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ab33d13cc4f81" /><Relationship Type="http://schemas.openxmlformats.org/officeDocument/2006/relationships/extended-properties" Target="/docProps/app.xml" Id="Rc50432165d2d4550" /><Relationship Type="http://schemas.openxmlformats.org/officeDocument/2006/relationships/officeDocument" Target="/ppt/presentation.xml" Id="Rfda9821ca9434a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e408602b14749"/>
  </p:sldMasterIdLst>
  <p:notesMasterIdLst>
    <p:notesMasterId xmlns:r="http://schemas.openxmlformats.org/officeDocument/2006/relationships" r:id="R6e88134e6c624c62"/>
  </p:notesMasterIdLst>
  <p:sldIdLst>
    <p:sldId xmlns:r="http://schemas.openxmlformats.org/officeDocument/2006/relationships" id="256" r:id="R5b2f6e783a7d431d"/>
    <p:sldId xmlns:r="http://schemas.openxmlformats.org/officeDocument/2006/relationships" id="257" r:id="R4170492dda1d49f4"/>
    <p:sldId xmlns:r="http://schemas.openxmlformats.org/officeDocument/2006/relationships" id="258" r:id="R1c5ad4bf8a4b4077"/>
    <p:sldId xmlns:r="http://schemas.openxmlformats.org/officeDocument/2006/relationships" id="259" r:id="Rc267ad991d2643d7"/>
    <p:sldId xmlns:r="http://schemas.openxmlformats.org/officeDocument/2006/relationships" id="260" r:id="Rffcd40e227b9415b"/>
    <p:sldId xmlns:r="http://schemas.openxmlformats.org/officeDocument/2006/relationships" id="261" r:id="Rac8c6cc9db7e4846"/>
    <p:sldId xmlns:r="http://schemas.openxmlformats.org/officeDocument/2006/relationships" id="262" r:id="Rf79420e999614db1"/>
    <p:sldId xmlns:r="http://schemas.openxmlformats.org/officeDocument/2006/relationships" id="263" r:id="Rebe93d47a3d54b6b"/>
    <p:sldId xmlns:r="http://schemas.openxmlformats.org/officeDocument/2006/relationships" id="264" r:id="Rfc12e2259ef541b5"/>
    <p:sldId xmlns:r="http://schemas.openxmlformats.org/officeDocument/2006/relationships" id="265" r:id="R491cbab19d5b476a"/>
    <p:sldId xmlns:r="http://schemas.openxmlformats.org/officeDocument/2006/relationships" id="266" r:id="R0f834f2e4fb34001"/>
    <p:sldId xmlns:r="http://schemas.openxmlformats.org/officeDocument/2006/relationships" id="267" r:id="R7ccf756013124ae1"/>
    <p:sldId xmlns:r="http://schemas.openxmlformats.org/officeDocument/2006/relationships" id="268" r:id="Re6324cf40a7643e9"/>
    <p:sldId xmlns:r="http://schemas.openxmlformats.org/officeDocument/2006/relationships" id="269" r:id="R330ddab7d5c742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09fe64e27480c" /><Relationship Type="http://schemas.openxmlformats.org/officeDocument/2006/relationships/slideMaster" Target="/ppt/slideMasters/slideMaster1.xml" Id="R31ee408602b14749" /><Relationship Type="http://schemas.openxmlformats.org/officeDocument/2006/relationships/notesMaster" Target="/ppt/notesMasters/notesMaster1.xml" Id="R6e88134e6c624c62" /><Relationship Type="http://schemas.openxmlformats.org/officeDocument/2006/relationships/presProps" Target="/ppt/presProps.xml" Id="Re8f52a607d494675" /><Relationship Type="http://schemas.openxmlformats.org/officeDocument/2006/relationships/tableStyles" Target="/ppt/tableStyles.xml" Id="R46c69f06e27841c3" /><Relationship Type="http://schemas.openxmlformats.org/officeDocument/2006/relationships/slide" Target="/ppt/slides/slide1.xml" Id="R5b2f6e783a7d431d" /><Relationship Type="http://schemas.openxmlformats.org/officeDocument/2006/relationships/slide" Target="/ppt/slides/slide2.xml" Id="R4170492dda1d49f4" /><Relationship Type="http://schemas.openxmlformats.org/officeDocument/2006/relationships/slide" Target="/ppt/slides/slide3.xml" Id="R1c5ad4bf8a4b4077" /><Relationship Type="http://schemas.openxmlformats.org/officeDocument/2006/relationships/slide" Target="/ppt/slides/slide4.xml" Id="Rc267ad991d2643d7" /><Relationship Type="http://schemas.openxmlformats.org/officeDocument/2006/relationships/slide" Target="/ppt/slides/slide5.xml" Id="Rffcd40e227b9415b" /><Relationship Type="http://schemas.openxmlformats.org/officeDocument/2006/relationships/slide" Target="/ppt/slides/slide6.xml" Id="Rac8c6cc9db7e4846" /><Relationship Type="http://schemas.openxmlformats.org/officeDocument/2006/relationships/slide" Target="/ppt/slides/slide7.xml" Id="Rf79420e999614db1" /><Relationship Type="http://schemas.openxmlformats.org/officeDocument/2006/relationships/slide" Target="/ppt/slides/slide8.xml" Id="Rebe93d47a3d54b6b" /><Relationship Type="http://schemas.openxmlformats.org/officeDocument/2006/relationships/slide" Target="/ppt/slides/slide9.xml" Id="Rfc12e2259ef541b5" /><Relationship Type="http://schemas.openxmlformats.org/officeDocument/2006/relationships/slide" Target="/ppt/slides/slide10.xml" Id="R491cbab19d5b476a" /><Relationship Type="http://schemas.openxmlformats.org/officeDocument/2006/relationships/slide" Target="/ppt/slides/slide11.xml" Id="R0f834f2e4fb34001" /><Relationship Type="http://schemas.openxmlformats.org/officeDocument/2006/relationships/slide" Target="/ppt/slides/slide12.xml" Id="R7ccf756013124ae1" /><Relationship Type="http://schemas.openxmlformats.org/officeDocument/2006/relationships/slide" Target="/ppt/slides/slide13.xml" Id="Re6324cf40a7643e9" /><Relationship Type="http://schemas.openxmlformats.org/officeDocument/2006/relationships/slide" Target="/ppt/slides/slide14.xml" Id="R330ddab7d5c742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dc8313bbff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a89cd54fca47d7" /><Relationship Type="http://schemas.openxmlformats.org/officeDocument/2006/relationships/notesMaster" Target="/ppt/notesMasters/notesMaster1.xml" Id="R7d3b8221502844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3a4446337449a" /><Relationship Type="http://schemas.openxmlformats.org/officeDocument/2006/relationships/notesMaster" Target="/ppt/notesMasters/notesMaster1.xml" Id="R9f3ff2b63f3d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a53b5e311a4087" /><Relationship Type="http://schemas.openxmlformats.org/officeDocument/2006/relationships/notesMaster" Target="/ppt/notesMasters/notesMaster1.xml" Id="Rd285cfc8404642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695e81695c406f" /><Relationship Type="http://schemas.openxmlformats.org/officeDocument/2006/relationships/notesMaster" Target="/ppt/notesMasters/notesMaster1.xml" Id="Rf014bc1e944a4f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2c8f699c2e4d05" /><Relationship Type="http://schemas.openxmlformats.org/officeDocument/2006/relationships/notesMaster" Target="/ppt/notesMasters/notesMaster1.xml" Id="R1519ecefeeab4a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204be2a8174cb7" /><Relationship Type="http://schemas.openxmlformats.org/officeDocument/2006/relationships/notesMaster" Target="/ppt/notesMasters/notesMaster1.xml" Id="R034467f5d142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f5e9fb005243da" /><Relationship Type="http://schemas.openxmlformats.org/officeDocument/2006/relationships/notesMaster" Target="/ppt/notesMasters/notesMaster1.xml" Id="R2638203519f940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e8abf19cf74e58" /><Relationship Type="http://schemas.openxmlformats.org/officeDocument/2006/relationships/notesMaster" Target="/ppt/notesMasters/notesMaster1.xml" Id="Rb5924805db9440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c62c17405546a5" /><Relationship Type="http://schemas.openxmlformats.org/officeDocument/2006/relationships/notesMaster" Target="/ppt/notesMasters/notesMaster1.xml" Id="R68f7298adcdd4e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6dd93f60aa44d1" /><Relationship Type="http://schemas.openxmlformats.org/officeDocument/2006/relationships/notesMaster" Target="/ppt/notesMasters/notesMaster1.xml" Id="R9ff100fad8324f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35f36af57d42da" /><Relationship Type="http://schemas.openxmlformats.org/officeDocument/2006/relationships/notesMaster" Target="/ppt/notesMasters/notesMaster1.xml" Id="R76f805cbe9614f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f02b0e5e9140f0" /><Relationship Type="http://schemas.openxmlformats.org/officeDocument/2006/relationships/notesMaster" Target="/ppt/notesMasters/notesMaster1.xml" Id="Reb771301f6d84d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bc72d3c54f4d2e" /><Relationship Type="http://schemas.openxmlformats.org/officeDocument/2006/relationships/notesMaster" Target="/ppt/notesMasters/notesMaster1.xml" Id="Ra4d6c58857b845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79bd1af63b42cb" /><Relationship Type="http://schemas.openxmlformats.org/officeDocument/2006/relationships/notesMaster" Target="/ppt/notesMasters/notesMaster1.xml" Id="Rea8fd30ce84b4b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</a:t>
            </a:r>
          </a:p>
          <a:p xmlns:a="http://schemas.openxmlformats.org/drawingml/2006/main">
            <a:r>
              <a:t>- results/*/grade.txt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results/util/grade.txt ... results/mmap/grade.txt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figures/xv6-trap-routing.png</a:t>
            </a:r>
          </a:p>
          <a:p xmlns:a="http://schemas.openxmlformats.org/drawingml/2006/main">
            <a:r>
              <a:t>- kernel/trap.c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 §6–8</a:t>
            </a:r>
          </a:p>
          <a:p xmlns:a="http://schemas.openxmlformats.org/drawingml/2006/main">
            <a:r>
              <a:t>- kernel/trampoline.S</a:t>
            </a:r>
          </a:p>
          <a:p xmlns:a="http://schemas.openxmlformats.org/drawingml/2006/main">
            <a:r>
              <a:t>- kernel/trap.c</a:t>
            </a:r>
          </a:p>
          <a:p xmlns:a="http://schemas.openxmlformats.org/drawingml/2006/main">
            <a:r>
              <a:t>- kernel/syscall.c</a:t>
            </a:r>
          </a:p>
          <a:p xmlns:a="http://schemas.openxmlformats.org/drawingml/2006/main">
            <a:r>
              <a:t>- kernel/vm.c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 §9</a:t>
            </a:r>
          </a:p>
          <a:p xmlns:a="http://schemas.openxmlformats.org/drawingml/2006/main">
            <a:r>
              <a:t>- kernel/vm.c:uvmcopy/cowalloc/copyout</a:t>
            </a:r>
          </a:p>
          <a:p xmlns:a="http://schemas.openxmlformats.org/drawingml/2006/main">
            <a:r>
              <a:t>- results/cow/grade.txt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 §9</a:t>
            </a:r>
          </a:p>
          <a:p xmlns:a="http://schemas.openxmlformats.org/drawingml/2006/main">
            <a:r>
              <a:t>- kernel/vm.c</a:t>
            </a:r>
          </a:p>
          <a:p xmlns:a="http://schemas.openxmlformats.org/drawingml/2006/main">
            <a:r>
              <a:t>- kernel/kalloc.c</a:t>
            </a:r>
          </a:p>
          <a:p xmlns:a="http://schemas.openxmlformats.org/drawingml/2006/main">
            <a:r>
              <a:t>- kernel/trap.c</a:t>
            </a:r>
          </a:p>
          <a:p xmlns:a="http://schemas.openxmlformats.org/drawingml/2006/main">
            <a:r>
              <a:t>- results/cow/grade.txt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 §10, §12</a:t>
            </a:r>
          </a:p>
          <a:p xmlns:a="http://schemas.openxmlformats.org/drawingml/2006/main">
            <a:r>
              <a:t>- results/thread/grade.txt</a:t>
            </a:r>
          </a:p>
          <a:p xmlns:a="http://schemas.openxmlformats.org/drawingml/2006/main">
            <a:r>
              <a:t>- results/lock/grade.txt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 §13</a:t>
            </a:r>
          </a:p>
          <a:p xmlns:a="http://schemas.openxmlformats.org/drawingml/2006/main">
            <a:r>
              <a:t>- kernel/fs.c:bmap/itrunc</a:t>
            </a:r>
          </a:p>
          <a:p xmlns:a="http://schemas.openxmlformats.org/drawingml/2006/main">
            <a:r>
              <a:t>- kernel/sysfile.c:sys_symlink</a:t>
            </a:r>
          </a:p>
          <a:p xmlns:a="http://schemas.openxmlformats.org/drawingml/2006/main">
            <a:r>
              <a:t>- results/fs/grade.txt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 §14</a:t>
            </a:r>
          </a:p>
          <a:p xmlns:a="http://schemas.openxmlformats.org/drawingml/2006/main">
            <a:r>
              <a:t>- kernel/proc.h</a:t>
            </a:r>
          </a:p>
          <a:p xmlns:a="http://schemas.openxmlformats.org/drawingml/2006/main">
            <a:r>
              <a:t>- kernel/sysfile.c:sys_mmap</a:t>
            </a:r>
          </a:p>
          <a:p xmlns:a="http://schemas.openxmlformats.org/drawingml/2006/main">
            <a:r>
              <a:t>- kernel/proc.c:vma_fault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docs/final-report.md §14</a:t>
            </a:r>
          </a:p>
          <a:p xmlns:a="http://schemas.openxmlformats.org/drawingml/2006/main">
            <a:r>
              <a:t>- kernel/proc.c:vma_fault/vma_unmap/vma_unmap_all</a:t>
            </a:r>
          </a:p>
          <a:p xmlns:a="http://schemas.openxmlformats.org/drawingml/2006/main">
            <a:r>
              <a:t>- kernel/exec.c</a:t>
            </a:r>
          </a:p>
          <a:p xmlns:a="http://schemas.openxmlformats.org/drawingml/2006/main">
            <a:r>
              <a:t>- results/mmap/grade.txt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scripts/defense-demo.sh</a:t>
            </a:r>
          </a:p>
          <a:p xmlns:a="http://schemas.openxmlformats.org/drawingml/2006/main">
            <a:r>
              <a:t>- docs/defense.md</a:t>
            </a:r>
          </a:p>
          <a:p xmlns:a="http://schemas.openxmlformats.org/drawingml/2006/main">
            <a:r>
              <a:t>- results/mmap/grade.txt</a:t>
            </a:r>
          </a:p>
          <a:p xmlns:a="http://schemas.openxmlformats.org/drawingml/2006/main">
            <a:r>
              <a:t>- screenshots/mmaptest-success.png (real terminal capture)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kernel/e1000.c</a:t>
            </a:r>
          </a:p>
          <a:p xmlns:a="http://schemas.openxmlformats.org/drawingml/2006/main">
            <a:r>
              <a:t>- results/net/grade.txt</a:t>
            </a:r>
          </a:p>
          <a:p xmlns:a="http://schemas.openxmlformats.org/drawingml/2006/main">
            <a:r>
              <a:t>- packets.pcap</a:t>
            </a:r>
          </a:p>
          <a:p xmlns:a="http://schemas.openxmlformats.org/drawingml/2006/main">
            <a:r>
              <a:t>- docs/defense.md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results/util/grade.txt ... results/mmap/grade.txt</a:t>
            </a:r>
          </a:p>
          <a:p xmlns:a="http://schemas.openxmlformats.org/drawingml/2006/main">
            <a:r>
              <a:t>- screenshots/grade-846.png (real terminal capture)</a:t>
            </a:r>
          </a:p>
          <a:p xmlns:a="http://schemas.openxmlformats.org/drawingml/2006/main">
            <a:r>
              <a:t>- docs/final-report.md §15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docs/defense.md</a:t>
            </a:r>
          </a:p>
          <a:p xmlns:a="http://schemas.openxmlformats.org/drawingml/2006/main">
            <a:r>
              <a:t>- scripts/defense-demo.sh</a:t>
            </a:r>
          </a:p>
          <a:p xmlns:a="http://schemas.openxmlformats.org/drawingml/2006/main">
            <a:r>
              <a:t>- results/*/grade.txt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22599374842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20cd46076d4afe" /><Relationship Type="http://schemas.openxmlformats.org/officeDocument/2006/relationships/slideLayout" Target="/ppt/slideLayouts/slideLayout1.xml" Id="R980cd88298024f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cd88298024f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b61c7b64c4397" /><Relationship Type="http://schemas.openxmlformats.org/officeDocument/2006/relationships/notesSlide" Target="/ppt/notesSlides/notesSlide1.xml" Id="R9525f31b706e4b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7faee2f734565" /><Relationship Type="http://schemas.openxmlformats.org/officeDocument/2006/relationships/notesSlide" Target="/ppt/notesSlides/notesSlide2.xml" Id="R82d97264204d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0ccd26d2b48c0" /><Relationship Type="http://schemas.openxmlformats.org/officeDocument/2006/relationships/image" Target="/ppt/media/image.png" Id="Rc79caa0b6f5745ae" /><Relationship Type="http://schemas.openxmlformats.org/officeDocument/2006/relationships/notesSlide" Target="/ppt/notesSlides/notesSlide3.xml" Id="Rce96dfde55274e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2977abaa44e7f" /><Relationship Type="http://schemas.openxmlformats.org/officeDocument/2006/relationships/notesSlide" Target="/ppt/notesSlides/notesSlide4.xml" Id="Rb0fd5fceeeb14a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ad0554c7042f8" /><Relationship Type="http://schemas.openxmlformats.org/officeDocument/2006/relationships/notesSlide" Target="/ppt/notesSlides/notesSlide5.xml" Id="R8a5b829f356945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8092f521f4829" /><Relationship Type="http://schemas.openxmlformats.org/officeDocument/2006/relationships/notesSlide" Target="/ppt/notesSlides/notesSlide6.xml" Id="R467be1e6e58d44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a44bac15a41a4" /><Relationship Type="http://schemas.openxmlformats.org/officeDocument/2006/relationships/notesSlide" Target="/ppt/notesSlides/notesSlide7.xml" Id="R638fdf6afaed4d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b463b360c4f9a" /><Relationship Type="http://schemas.openxmlformats.org/officeDocument/2006/relationships/notesSlide" Target="/ppt/notesSlides/notesSlide8.xml" Id="Rc5b3f90acef34e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991609bcb48ca" /><Relationship Type="http://schemas.openxmlformats.org/officeDocument/2006/relationships/notesSlide" Target="/ppt/notesSlides/notesSlide9.xml" Id="R063bc72883fb41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426469f2640a1" /><Relationship Type="http://schemas.openxmlformats.org/officeDocument/2006/relationships/notesSlide" Target="/ppt/notesSlides/notesSlide10.xml" Id="Reab01198823c4f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3de6c6ad04030" /><Relationship Type="http://schemas.openxmlformats.org/officeDocument/2006/relationships/image" Target="/ppt/media/image2.png" Id="Redf6096ce6274ddb" /><Relationship Type="http://schemas.openxmlformats.org/officeDocument/2006/relationships/notesSlide" Target="/ppt/notesSlides/notesSlide11.xml" Id="R5c0637d6b19c47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c41c1ef24e60" /><Relationship Type="http://schemas.openxmlformats.org/officeDocument/2006/relationships/notesSlide" Target="/ppt/notesSlides/notesSlide12.xml" Id="Raea98488e1cb4d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ba4d709354265" /><Relationship Type="http://schemas.openxmlformats.org/officeDocument/2006/relationships/image" Target="/ppt/media/image3.png" Id="R3b9b5e59a7e24b87" /><Relationship Type="http://schemas.openxmlformats.org/officeDocument/2006/relationships/notesSlide" Target="/ppt/notesSlides/notesSlide13.xml" Id="Rf5042ad0c1d346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a6016e45740b5" /><Relationship Type="http://schemas.openxmlformats.org/officeDocument/2006/relationships/notesSlide" Target="/ppt/notesSlides/notesSlide14.xml" Id="R6fdcbb3e60b34a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76001-3106-4024-BFD5-665FD34F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操作系统课程设计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A561B-3D56-42B7-B36C-935587FE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81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基于 MIT 6.S081 Fall 2021 xv6-riscv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的操作系统实验与实现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7F3E2-1668-4D5E-8BB9-3806EEDD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10/10 Labs · Official Grader 846/846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92DBB-C135-49C7-B2F5-DD42F641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</a:defRPr>
            </a:pPr>
            <a:r>
              <a:rPr sz="1575" b="0">
                <a:solidFill>
                  <a:srgbClr val="5F6368"/>
                </a:solidFill>
              </a:rPr>
              <a:t>同济大学 · 计算机科学与技术学院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</a:defRPr>
            </a:pPr>
            <a:r>
              <a:rPr sz="1575" b="0">
                <a:solidFill>
                  <a:srgbClr val="5F6368"/>
                </a:solidFill>
              </a:rPr>
              <a:t>软件工程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</a:defRPr>
            </a:pPr>
            <a:r>
              <a:rPr sz="1575" b="0">
                <a:solidFill>
                  <a:srgbClr val="5F6368"/>
                </a:solidFill>
              </a:rPr>
              <a:t>祝宸旭 · 2451770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CB967-F26F-4DF9-977D-8EE39E5C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3870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052E-B57D-4319-BD99-3CB1EEF0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0101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F4E79"/>
                </a:solidFill>
              </a:defRPr>
            </a:pPr>
            <a:r>
              <a:rPr sz="2100" b="1">
                <a:solidFill>
                  <a:srgbClr val="1F4E79"/>
                </a:solidFill>
              </a:rPr>
              <a:t>xv6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F4E79"/>
                </a:solidFill>
              </a:defRPr>
            </a:pPr>
            <a:r>
              <a:rPr sz="2100" b="1">
                <a:solidFill>
                  <a:srgbClr val="1F4E79"/>
                </a:solidFill>
              </a:rPr>
              <a:t>RISC-V</a:t>
            </a:r>
          </a:p>
        </p:txBody>
      </p:sp>
    </p:spTree>
    <p:extLst>
      <p:ext uri="{BB962C8B-B14F-4D97-AF65-F5344CB8AC3E}">
        <p14:creationId xmlns:p14="http://schemas.microsoft.com/office/powerpoint/2010/main" val="702705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14E7F-4B4D-4A1A-8A58-38D7B84E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30C82E-1129-44BD-A667-A3E52974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全部 10 个实验完成，官方评分 846/846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F13E3-2478-4E36-843E-4396B7C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A2262-9435-40DB-BFDB-20A5130C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4D672-8BD0-467F-9618-1AB34829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3D8DFF"/>
                </a:solidFill>
              </a:defRPr>
            </a:pPr>
            <a:r>
              <a:rPr sz="4500" b="1">
                <a:solidFill>
                  <a:srgbClr val="3D8DFF"/>
                </a:solidFill>
              </a:rPr>
              <a:t>10/10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7D122-4B04-45D5-BB88-5201D6A0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独立 Lab 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AFAAA-6EAD-4D4D-BB2F-5DB71E07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526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F4E79"/>
                </a:solidFill>
              </a:defRPr>
            </a:pPr>
            <a:r>
              <a:rPr sz="4500" b="1">
                <a:solidFill>
                  <a:srgbClr val="1F4E79"/>
                </a:solidFill>
              </a:rPr>
              <a:t>846/846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0D8AC-7A20-456E-9288-177E274E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官方 grader 总分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391F5-260B-4A49-99EC-1C8238E1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覆盖从用户程序到硬件接口的完整路径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8CA82-7027-494A-9023-120EEC77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用户程序 / System Call / Trap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Sv39 / COW / mmap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Thread / Lock / Network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File System / 日志 / inode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7096125" y="1771650"/>
          <a:ext xmlns:a="http://schemas.openxmlformats.org/drawingml/2006/main" cx="4410075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90625"/>
                <a:gridCol w="809625"/>
                <a:gridCol w="1428750"/>
                <a:gridCol w="809625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Lab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Lab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util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100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thread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60</a:t>
                      </a:r>
                    </a:p>
                  </a:txBody>
                  <a:tcPr marL="76200" marR="76200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syscall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35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net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100</a:t>
                      </a:r>
                    </a:p>
                  </a:txBody>
                  <a:tcPr marL="76200" marR="76200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pgtbl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46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lock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70</a:t>
                      </a:r>
                    </a:p>
                  </a:txBody>
                  <a:tcPr marL="76200" marR="76200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traps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85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100</a:t>
                      </a:r>
                    </a:p>
                  </a:txBody>
                  <a:tcPr marL="76200" marR="76200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cow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110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mmap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140</a:t>
                      </a:r>
                    </a:p>
                  </a:txBody>
                  <a:tcPr marL="76200" marR="76200" marT="57150" marB="571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116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AAD38-B462-4E24-9C95-A78F30A1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EF097F2-FB3A-46AA-BF6C-1E375D5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Trap 边界把用户态请求分流到内核子系统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04EC7-37F1-4D61-A570-399F1318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AD5AC-E961-4F8E-AF3D-3D17A513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caa0b6f5745ae"/>
          <a:stretch xmlns:a="http://schemas.openxmlformats.org/drawingml/2006/main"/>
        </p:blipFill>
        <p:spPr>
          <a:xfrm xmlns:a="http://schemas.openxmlformats.org/drawingml/2006/main">
            <a:off x="688975" y="2400300"/>
            <a:ext cx="8089900" cy="2228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6E763-43D8-48EA-8EBD-481F04F8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三个入口原因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A7633-4EBC-4C48-9ECA-142DE0D7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ecall → syscall()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interrupt → devintr()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page fault → VM handler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5CC86-A5B2-41A8-9572-4522F159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设备中断不经过 syscall()</a:t>
            </a:r>
          </a:p>
        </p:txBody>
      </p:sp>
    </p:spTree>
    <p:extLst>
      <p:ext uri="{BB962C8B-B14F-4D97-AF65-F5344CB8AC3E}">
        <p14:creationId xmlns:p14="http://schemas.microsoft.com/office/powerpoint/2010/main" val="6828408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CF068-130A-4D21-8581-3EB16B04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35210BE-87CF-4368-AAE0-8389C04C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一次系统调用跨越用户态、Trap 与页表边界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83C08-2A2C-4B80-AA65-D111AE75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B7B14-7A5C-40EB-A322-9ACEC90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28A3E-70A9-46FB-B12B-E2E41CC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428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user stub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14360-D035-454C-8647-FCAED83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38350"/>
            <a:ext cx="1428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78668-7762-4E0C-A94B-18AF79C5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1428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uservec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CB1C5-41C0-4474-ACEF-0CF8079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38350"/>
            <a:ext cx="1428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usertrap()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D430A-F1E9-474C-B5BC-1A319983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38350"/>
            <a:ext cx="1428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syscall()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9A6C0-1566-4E68-93B9-5891E777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38350"/>
            <a:ext cx="14287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sys_* handler</a:t>
            </a:r>
          </a:p>
        </p:txBody>
      </p: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14550" y="2390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86200" y="2390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57850" y="2390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390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01150" y="2390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EA340-0D6A-426E-ADBE-DD8EB4B6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4E79"/>
                </a:solidFill>
              </a:defRPr>
            </a:pPr>
            <a:r>
              <a:rPr sz="2250" b="1">
                <a:solidFill>
                  <a:srgbClr val="1F4E79"/>
                </a:solidFill>
              </a:rPr>
              <a:t>Sv39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CA792-4B80-4ECC-98A3-A47C9959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三级页表，每级 9 位索引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4 KiB 页面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PTE 定义 R/W/X/U/A 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D84F4-2118-4895-A588-BF27D52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4E79"/>
                </a:solidFill>
              </a:defRPr>
            </a:pPr>
            <a:r>
              <a:rPr sz="2250" b="1">
                <a:solidFill>
                  <a:srgbClr val="1F4E79"/>
                </a:solidFill>
              </a:rPr>
              <a:t>Trapframe + Trampoline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F5FF1-EA23-438A-9703-ED14A65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保存完整用户寄存器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跨 satp 切换保持入口可执行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scause 决定分流路径</a:t>
            </a:r>
          </a:p>
        </p:txBody>
      </p:sp>
    </p:spTree>
    <p:extLst>
      <p:ext uri="{BB962C8B-B14F-4D97-AF65-F5344CB8AC3E}">
        <p14:creationId xmlns:p14="http://schemas.microsoft.com/office/powerpoint/2010/main" val="801276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9C23A-84FF-456B-B81D-9ABC73F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A0A91A1-16E7-4FF1-BDEA-8D150E04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COW 让 fork 的复制成本延迟到真正写入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9FDDD-4CDA-479C-B98D-8CCAB36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8791-F4DF-4E71-9E3A-FAB707F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11150-9448-415B-9D37-5246FD7C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写入前：父子共享只读物理页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639C1-EEC5-46FA-9306-A43A041F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Parent PTE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 | COW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FE085-A25A-4324-BD64-38E8D9EF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Child PTE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 | COW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10CB9-DDB4-401E-A775-7A3A714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1809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Shared PA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ref = 2</a:t>
            </a:r>
          </a:p>
        </p:txBody>
      </p:sp>
      <p:cxnSp>
        <p:nvCxnSpPr>
          <p:cNvPr id="1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52700" y="2838450"/>
            <a:ext cx="11620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552700" y="3581400"/>
            <a:ext cx="116205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C084F-2EF2-404F-82E9-4D9C7548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写入后：故障路径拆分映射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0DB0A-D373-455F-9C21-EAEC9312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Parent PTE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 | COW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80AEB-9511-4AE5-A38C-9F32CBE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17145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Child PTE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 | 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3EF38-F9B4-47B8-8CD6-58F346D5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1666875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Old PA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ref =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5179F-1394-4330-BDD0-5428555B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29050"/>
            <a:ext cx="1666875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New PA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ref = 1</a:t>
            </a:r>
          </a:p>
        </p:txBody>
      </p:sp>
      <p:cxnSp>
        <p:nvCxnSpPr>
          <p:cNvPr id="13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86750" y="28384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86750" y="426720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32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69166-D940-4913-AB01-A7531FB7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用户 store fault 与内核 copyout 都必须遵守同一拆分规则</a:t>
            </a:r>
          </a:p>
        </p:txBody>
      </p:sp>
    </p:spTree>
    <p:extLst>
      <p:ext uri="{BB962C8B-B14F-4D97-AF65-F5344CB8AC3E}">
        <p14:creationId xmlns:p14="http://schemas.microsoft.com/office/powerpoint/2010/main" val="1773527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02695-584B-4842-85B8-5D085560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1C2196B-99B8-441B-919D-A4C5BF49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COW 的正确性依赖三条同时成立的不变量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A8A89-0DCA-49BE-BB02-5F4B1A14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55279-1B17-4DD5-88D6-90D837F4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3FCC7-93E6-4A3A-99EC-B6C65D1F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9050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uvmcopy()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共享 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2BC74-A185-4EC9-8260-6B862430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9050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PTE_COW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清除 PTE_W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D1952-64EF-48F5-A1D5-752C7133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19050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reference count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映射成对计数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AD68E-A88D-4EA4-B9EB-9A5A11E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24765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cowalloc()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单引用恢复 / 多引用复制</a:t>
            </a:r>
          </a:p>
        </p:txBody>
      </p:sp>
      <p:cxnSp>
        <p:nvCxnSpPr>
          <p:cNvPr id="8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0800" y="24574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10150" y="24574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24574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7F498-92AB-4FC5-95D6-9C9F40CF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382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共享页不可直接写：父子 PTE 均移除 PTE_W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引用计数准确：每个映射增加，每次解除映射减少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所有写路径一致：usertrap() 与 copyout() 共同调用 cowalloc()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F7FFC-17B4-42E8-8EA9-142530DD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909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F4E79"/>
                </a:solidFill>
              </a:defRPr>
            </a:pPr>
            <a:r>
              <a:rPr sz="4500" b="1">
                <a:solidFill>
                  <a:srgbClr val="1F4E79"/>
                </a:solidFill>
              </a:rPr>
              <a:t>110/110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8828B-AE19-4DAD-822F-F5BC995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291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cow 官方评分</a:t>
            </a:r>
          </a:p>
        </p:txBody>
      </p:sp>
    </p:spTree>
    <p:extLst>
      <p:ext uri="{BB962C8B-B14F-4D97-AF65-F5344CB8AC3E}">
        <p14:creationId xmlns:p14="http://schemas.microsoft.com/office/powerpoint/2010/main" val="2298295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A2E19-61E6-4A3C-8D70-FF36A052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66E908D-805E-4E29-AD45-04447DA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并发优化从状态归属出发，而不是机械增加锁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72114-C2A7-43E1-8BE2-BFA293B9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66770-C583-45DD-8AFC-AE28AB9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5E4E8-4C24-4DFC-AC29-13326EE9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4E79"/>
                </a:solidFill>
              </a:defRPr>
            </a:pPr>
            <a:r>
              <a:rPr sz="2250" b="1">
                <a:solidFill>
                  <a:srgbClr val="1F4E79"/>
                </a:solidFill>
              </a:rPr>
              <a:t>Multithreading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E2B00-D376-4562-AF98-FADF3074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thread_switch 保存 ra / sp / s0–s11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hash table：每 bucket mutex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barrier：mutex + cond +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B6EDF-CBF6-4F04-BC5C-C44AB8B6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4E79"/>
                </a:solidFill>
              </a:defRPr>
            </a:pPr>
            <a:r>
              <a:rPr sz="2250" b="1">
                <a:solidFill>
                  <a:srgbClr val="1F4E79"/>
                </a:solidFill>
              </a:rPr>
              <a:t>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090E6-B8C6-4E3B-A427-683FB0CA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allocator：per-CPU freelist + steal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bcache：13 buckets + eviction 慢路径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固定锁序维护唯一缓存副本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25A91-78FD-491B-BDBA-C9591C54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AB62D-1FF6-43F4-8311-0568370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36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本次 bcache test-and-set：62,783 → 163（约下降 99.7%）</a:t>
            </a:r>
          </a:p>
        </p:txBody>
      </p:sp>
    </p:spTree>
    <p:extLst>
      <p:ext uri="{BB962C8B-B14F-4D97-AF65-F5344CB8AC3E}">
        <p14:creationId xmlns:p14="http://schemas.microsoft.com/office/powerpoint/2010/main" val="965243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8546D-2B5F-42A7-B912-2EA8ADA7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FB4A27A-00EC-4463-A154-BFC7BD8C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双重间接块在不增大 inode 的前提下扩展大文件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BEF7E-AFF2-4871-9ABE-15D34A47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7D9BB-E754-41D2-8E6F-14D0DBC8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F69E1-77E3-433E-B8B3-DCAAB614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inode addrs[13]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2CA46-1D18-4440-B55C-195A2A5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1714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11 direct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14A04-9A22-47BB-92CF-A6F869C0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17145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 single indirect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256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AE066-6CFB-4FAB-BC27-B49FD2C0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43350"/>
            <a:ext cx="1714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 double indirect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361F2-7A32-4D83-A0FB-955F2606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1905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256 index blocks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B2F75-A33E-407D-93F6-3F8C065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000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256² data blocks</a:t>
            </a:r>
          </a:p>
        </p:txBody>
      </p:sp>
      <p:cxnSp>
        <p:nvCxnSpPr>
          <p:cNvPr id="1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95550" y="1981200"/>
            <a:ext cx="8953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2505075"/>
            <a:ext cx="8953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95550" y="2505075"/>
            <a:ext cx="895350" cy="1800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05400" y="43053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058150" y="4305300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47D7F-E5CC-4A44-A838-A7938887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4E79"/>
                </a:solidFill>
              </a:defRPr>
            </a:pPr>
            <a:r>
              <a:rPr sz="2325" b="1">
                <a:solidFill>
                  <a:srgbClr val="1F4E79"/>
                </a:solidFill>
              </a:rPr>
              <a:t>MAXFILE = 11 + 256 + 256² = 65,803 blocks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6114A-ACCD-49CC-9569-1B795EA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bmap() 按需分配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itrunc() 由叶到根释放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symlink 最大跟随深度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81F7D-25AD-404D-B5A6-8568B56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4E79"/>
                </a:solidFill>
              </a:defRPr>
            </a:pPr>
            <a:r>
              <a:rPr sz="1575" b="1">
                <a:solidFill>
                  <a:srgbClr val="1F4E79"/>
                </a:solidFill>
              </a:rPr>
              <a:t>FS 100/100 · 现场只演示 symlinktest，完整 bigfile 证据见 results/fs/grade.txt</a:t>
            </a:r>
          </a:p>
        </p:txBody>
      </p:sp>
    </p:spTree>
    <p:extLst>
      <p:ext uri="{BB962C8B-B14F-4D97-AF65-F5344CB8AC3E}">
        <p14:creationId xmlns:p14="http://schemas.microsoft.com/office/powerpoint/2010/main" val="3217163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45FB8-C528-4C30-99D6-B6F27B42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7F29AF8-1D69-4552-99CD-5E33ACF7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mmap 先登记 VMA，首次数据访问时才真正装页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D6627-6EDD-43A4-AE73-A35C228E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1357A-E478-4BA8-9FDB-15496283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A1A8F-8323-42A6-8090-635ED779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用户虚拟地址空间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7174-7E30-4ABA-9355-1A45860E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TRAMPOLINE / TRAPFRAME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6A979-182D-4623-80FE-EAA172CE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VMA 2（未 fault，无 PTE）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B064-A65E-45D8-9EC5-DA160445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VMA 1（已装页）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95E96-20ED-4A9D-B9F4-C3F4E11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heap / stack / 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4EE0E-FCDB-4519-B0B9-9B210A81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VMA 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A7696-AEC9-47F4-A057-68261F35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5143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addr / length / prot / flags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file 引用 + offset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每进程最多 16 个 VMA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地址从 TRAPFRAME 下方向下选择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5319F-117A-41E0-A335-48C3D730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43400"/>
            <a:ext cx="514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546DB-D25C-4805-B6CD-F7C09F2E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14850"/>
            <a:ext cx="464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Lazy mapping 的收益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只为实际访问页面分配物理内存并执行文件 I/O</a:t>
            </a:r>
          </a:p>
        </p:txBody>
      </p:sp>
    </p:spTree>
    <p:extLst>
      <p:ext uri="{BB962C8B-B14F-4D97-AF65-F5344CB8AC3E}">
        <p14:creationId xmlns:p14="http://schemas.microsoft.com/office/powerpoint/2010/main" val="14560450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55894-5805-41B6-BB5E-FD2D3ECC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9E00E1B4-7426-4856-A115-E5EBB5C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VMA、fault、fork、munmap 与 exit 构成完整生命周期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446F4-040E-4626-8DFF-F8458CD4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F4CED-C022-47CA-A96B-07DDDB96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53D81-A570-472A-9596-4A07BD2B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5811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mmap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登记 VMA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filedup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7C556-29AB-4F37-A88B-EC0DB891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15811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fault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kalloc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readi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mappages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A964-15BE-4877-A72F-C119D3A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15811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access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PTE 权限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读 / 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89FB4-85A2-4F39-AE04-508EEBFF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5811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fork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复制 VMA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独立 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B1356-7242-40A6-8D90-97923136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15811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munmap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shared 回写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释放 PTE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772F8-4F24-4B53-A30D-A7E47832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90750"/>
            <a:ext cx="15811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exit / exec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unmap_all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fileclose</a:t>
            </a:r>
          </a:p>
        </p:txBody>
      </p:sp>
      <p:cxnSp>
        <p:nvCxnSpPr>
          <p:cNvPr id="1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33600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76700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19800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962900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12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906000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8FDAE-A1E9-4811-A314-76465D32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关键区分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0F10B-8A73-4182-BB47-74212455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VMA 已登记 ≠ PTE / 物理页已经存在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8E5B0-8245-42F1-9C9D-EBE9722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234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F4E79"/>
                </a:solidFill>
              </a:defRPr>
            </a:pPr>
            <a:r>
              <a:rPr sz="4500" b="1">
                <a:solidFill>
                  <a:srgbClr val="1F4E79"/>
                </a:solidFill>
              </a:rPr>
              <a:t>140/140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FFCE9-9B47-4346-B857-15354C52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mmap 官方评分</a:t>
            </a:r>
          </a:p>
        </p:txBody>
      </p:sp>
    </p:spTree>
    <p:extLst>
      <p:ext uri="{BB962C8B-B14F-4D97-AF65-F5344CB8AC3E}">
        <p14:creationId xmlns:p14="http://schemas.microsoft.com/office/powerpoint/2010/main" val="1793080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9187F-F772-4E87-8E22-F38F84F1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MAIN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6BB79519-F512-4ECF-8F29-DDB82F3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现场 Demo 聚焦 mmap，结论回到资源生命周期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DECBB-DC4D-4208-9D7D-A0D59F1C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07F67-3F74-471C-AAA9-FE9419E3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8A308-E472-45D3-9F57-093446CE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4E79"/>
                </a:solidFill>
              </a:defRPr>
            </a:pPr>
            <a:r>
              <a:rPr sz="1875" b="1">
                <a:solidFill>
                  <a:srgbClr val="1F4E79"/>
                </a:solidFill>
              </a:rPr>
              <a:t>首选命令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DA9CA-6BA0-422E-A58F-C69A56BE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504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07B0B-75B9-4764-8F32-E923C460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$ ./scripts/defense-demo.sh mmap demo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$ mmaptest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0857A-0AAA-49D8-A685-E6B6C4B2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结果：mmaptest: all tests succeeded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备用：cow demo → cowtest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C09C5-3C75-4D9D-83C7-B4B40D24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F4E79"/>
                </a:solidFill>
              </a:defRPr>
            </a:pPr>
            <a:r>
              <a:rPr sz="2250" b="1">
                <a:solidFill>
                  <a:srgbClr val="1F4E79"/>
                </a:solidFill>
              </a:rPr>
              <a:t>10 Labs · 846/846 · COW + mmap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6096ce6274ddb"/>
          <a:srcRect xmlns:a="http://schemas.openxmlformats.org/drawingml/2006/main" l="0" t="10638" r="0" b="106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752600"/>
            <a:ext cx="5219700" cy="3467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85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530AC-A50B-41EC-A8A2-2D3BA64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BACKUP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16D60D12-4379-4C1C-8D9D-E04982F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Network Driver：DMA descriptor ring 的所有权交接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176D7-8C14-4B3A-9E7F-E17A5BAC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38CCE-40CE-4E34-8B65-995002E0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D08FA-8242-4ED9-A9A5-0FBC8576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00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CPU / driver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B4EA5-7BBD-410D-99FD-65244F8C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000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TX ring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TDT + DD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1F751-858C-4E07-9E5E-FC483C78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2000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RX ring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RDT + 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B3FE7-A704-4395-A092-6D8C9161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2000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E1000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DMA</a:t>
            </a:r>
          </a:p>
        </p:txBody>
      </p:sp>
      <p:cxnSp>
        <p:nvCxnSpPr>
          <p:cNvPr id="9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57500" y="22383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91250" y="2238375"/>
            <a:ext cx="142875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6191250" y="3219450"/>
            <a:ext cx="142875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857500" y="2905125"/>
            <a:ext cx="13335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E8C95-EC74-4393-A950-E4ECFEE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71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DD 位决定 buffer 所有权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调用 net_rx() 前释放设备锁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memory barrier 保证描述符可见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09094-D64E-4FC5-A0DF-1F8018A4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不做现场交互 Demo：nettests 依赖 host-side make server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证据：results/net/grade.txt + packets.pcap</a:t>
            </a:r>
          </a:p>
        </p:txBody>
      </p:sp>
    </p:spTree>
    <p:extLst>
      <p:ext uri="{BB962C8B-B14F-4D97-AF65-F5344CB8AC3E}">
        <p14:creationId xmlns:p14="http://schemas.microsoft.com/office/powerpoint/2010/main" val="4625164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8EAA6-535E-4154-B89A-18377628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BACKUP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D4E4AED-833C-453B-895D-538F619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完整成绩与验证证据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7A87B-C820-4F5A-91F8-05273128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88CC8-BF01-4E8C-AEBF-003A8B02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b5e59a7e24b87"/>
          <a:stretch xmlns:a="http://schemas.openxmlformats.org/drawingml/2006/main"/>
        </p:blipFill>
        <p:spPr>
          <a:xfrm xmlns:a="http://schemas.openxmlformats.org/drawingml/2006/main">
            <a:off x="1408654" y="1524000"/>
            <a:ext cx="9374692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710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D495A-B076-4497-B295-7C125AC3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BACKUP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2C9E1B7E-C97A-47C2-B87E-FAA8A238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详细源码与测试定位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EFF66-4A12-4E27-BE0A-A4ADCB7C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CB534-2481-4407-948B-E5D6A93B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09750"/>
                <a:gridCol w="1524000"/>
                <a:gridCol w="4286250"/>
                <a:gridCol w="2857500"/>
              </a:tblGrid>
              <a:tr h="428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Topic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Branch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Source entry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>Test / evidence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System Call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syscall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kernel/syscall.c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syscall demo</a:t>
                      </a:r>
                    </a:p>
                  </a:txBody>
                  <a:tcPr marL="76200" marR="76200" marT="57150" marB="5715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Page Table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pgtbl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kernel/vm.c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pgtbl demo</a:t>
                      </a:r>
                    </a:p>
                  </a:txBody>
                  <a:tcPr marL="76200" marR="76200" marT="57150" marB="5715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Trap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traps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kernel/trap.c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traps demo</a:t>
                      </a:r>
                    </a:p>
                  </a:txBody>
                  <a:tcPr marL="76200" marR="76200" marT="57150" marB="5715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COW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cow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uvmcopy / cowalloc / copyout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cowtest / grade.txt</a:t>
                      </a:r>
                    </a:p>
                  </a:txBody>
                  <a:tcPr marL="76200" marR="76200" marT="57150" marB="5715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Thread / Lock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thread / lock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uthread_switch.S / kalloc.c / bio.c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saved grade evidence</a:t>
                      </a:r>
                    </a:p>
                  </a:txBody>
                  <a:tcPr marL="76200" marR="76200" marT="57150" marB="5715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File System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bmap / itrunc / sys_symlink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symlinktest only</a:t>
                      </a:r>
                    </a:p>
                  </a:txBody>
                  <a:tcPr marL="76200" marR="76200" marT="57150" marB="5715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mmap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mmap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sys_mmap / vma_fault / vma_unmap_all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mmap demo</a:t>
                      </a:r>
                    </a:p>
                  </a:txBody>
                  <a:tcPr marL="76200" marR="76200" marT="57150" marB="5715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1F413-AD25-4377-B8B3-E3F06634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完整答辩索引：docs/defense.md · 主现场 Demo：mmap · FS 仅 symlinktest · Net 使用保存证据</a:t>
            </a:r>
          </a:p>
        </p:txBody>
      </p:sp>
    </p:spTree>
    <p:extLst>
      <p:ext uri="{BB962C8B-B14F-4D97-AF65-F5344CB8AC3E}">
        <p14:creationId xmlns:p14="http://schemas.microsoft.com/office/powerpoint/2010/main" val="1712394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2026-08-25T15:15:32.3610000Z</dcterms:created>
  <dcterms:modified xsi:type="dcterms:W3CDTF">2026-08-25T15:15:32.3610000Z</dcterms:modified>
</coreProperties>
</file>