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3e4a66a21643fc" /><Relationship Type="http://schemas.openxmlformats.org/officeDocument/2006/relationships/extended-properties" Target="/docProps/app.xml" Id="Rc75b7c77e4664e84" /><Relationship Type="http://schemas.openxmlformats.org/officeDocument/2006/relationships/officeDocument" Target="/ppt/presentation.xml" Id="Rcadde2476a6047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0f89a551a347b4"/>
  </p:sldMasterIdLst>
  <p:notesMasterIdLst>
    <p:notesMasterId xmlns:r="http://schemas.openxmlformats.org/officeDocument/2006/relationships" r:id="R98916e4ba34044f0"/>
  </p:notesMasterIdLst>
  <p:sldIdLst>
    <p:sldId xmlns:r="http://schemas.openxmlformats.org/officeDocument/2006/relationships" id="256" r:id="R70474e403e2f44c3"/>
    <p:sldId xmlns:r="http://schemas.openxmlformats.org/officeDocument/2006/relationships" id="257" r:id="R778a1b488018484f"/>
    <p:sldId xmlns:r="http://schemas.openxmlformats.org/officeDocument/2006/relationships" id="258" r:id="R8a7bdf3612ca448c"/>
    <p:sldId xmlns:r="http://schemas.openxmlformats.org/officeDocument/2006/relationships" id="259" r:id="R1f49be82dfb94ee2"/>
    <p:sldId xmlns:r="http://schemas.openxmlformats.org/officeDocument/2006/relationships" id="260" r:id="R43e648da68dc478f"/>
    <p:sldId xmlns:r="http://schemas.openxmlformats.org/officeDocument/2006/relationships" id="261" r:id="Rb529ef69347d4fe8"/>
    <p:sldId xmlns:r="http://schemas.openxmlformats.org/officeDocument/2006/relationships" id="262" r:id="R58e8d04099284b7f"/>
    <p:sldId xmlns:r="http://schemas.openxmlformats.org/officeDocument/2006/relationships" id="263" r:id="Rc9f6ac3103f444c3"/>
    <p:sldId xmlns:r="http://schemas.openxmlformats.org/officeDocument/2006/relationships" id="264" r:id="Re5985f8b5269456a"/>
    <p:sldId xmlns:r="http://schemas.openxmlformats.org/officeDocument/2006/relationships" id="265" r:id="R5a841a9f12c44302"/>
    <p:sldId xmlns:r="http://schemas.openxmlformats.org/officeDocument/2006/relationships" id="266" r:id="R4b673e7bcc8140bc"/>
    <p:sldId xmlns:r="http://schemas.openxmlformats.org/officeDocument/2006/relationships" id="267" r:id="Rb0fd687b560c49ed"/>
    <p:sldId xmlns:r="http://schemas.openxmlformats.org/officeDocument/2006/relationships" id="268" r:id="Rb813abc26fd14fe0"/>
    <p:sldId xmlns:r="http://schemas.openxmlformats.org/officeDocument/2006/relationships" id="269" r:id="R05992ec6884b48b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5cd863883548ae" /><Relationship Type="http://schemas.openxmlformats.org/officeDocument/2006/relationships/slideMaster" Target="/ppt/slideMasters/slideMaster1.xml" Id="R050f89a551a347b4" /><Relationship Type="http://schemas.openxmlformats.org/officeDocument/2006/relationships/notesMaster" Target="/ppt/notesMasters/notesMaster1.xml" Id="R98916e4ba34044f0" /><Relationship Type="http://schemas.openxmlformats.org/officeDocument/2006/relationships/presProps" Target="/ppt/presProps.xml" Id="R5226d1ce39ee4a32" /><Relationship Type="http://schemas.openxmlformats.org/officeDocument/2006/relationships/tableStyles" Target="/ppt/tableStyles.xml" Id="R2f3eddc425e24519" /><Relationship Type="http://schemas.openxmlformats.org/officeDocument/2006/relationships/slide" Target="/ppt/slides/slide1.xml" Id="R70474e403e2f44c3" /><Relationship Type="http://schemas.openxmlformats.org/officeDocument/2006/relationships/slide" Target="/ppt/slides/slide2.xml" Id="R778a1b488018484f" /><Relationship Type="http://schemas.openxmlformats.org/officeDocument/2006/relationships/slide" Target="/ppt/slides/slide3.xml" Id="R8a7bdf3612ca448c" /><Relationship Type="http://schemas.openxmlformats.org/officeDocument/2006/relationships/slide" Target="/ppt/slides/slide4.xml" Id="R1f49be82dfb94ee2" /><Relationship Type="http://schemas.openxmlformats.org/officeDocument/2006/relationships/slide" Target="/ppt/slides/slide5.xml" Id="R43e648da68dc478f" /><Relationship Type="http://schemas.openxmlformats.org/officeDocument/2006/relationships/slide" Target="/ppt/slides/slide6.xml" Id="Rb529ef69347d4fe8" /><Relationship Type="http://schemas.openxmlformats.org/officeDocument/2006/relationships/slide" Target="/ppt/slides/slide7.xml" Id="R58e8d04099284b7f" /><Relationship Type="http://schemas.openxmlformats.org/officeDocument/2006/relationships/slide" Target="/ppt/slides/slide8.xml" Id="Rc9f6ac3103f444c3" /><Relationship Type="http://schemas.openxmlformats.org/officeDocument/2006/relationships/slide" Target="/ppt/slides/slide9.xml" Id="Re5985f8b5269456a" /><Relationship Type="http://schemas.openxmlformats.org/officeDocument/2006/relationships/slide" Target="/ppt/slides/slide10.xml" Id="R5a841a9f12c44302" /><Relationship Type="http://schemas.openxmlformats.org/officeDocument/2006/relationships/slide" Target="/ppt/slides/slide11.xml" Id="R4b673e7bcc8140bc" /><Relationship Type="http://schemas.openxmlformats.org/officeDocument/2006/relationships/slide" Target="/ppt/slides/slide12.xml" Id="Rb0fd687b560c49ed" /><Relationship Type="http://schemas.openxmlformats.org/officeDocument/2006/relationships/slide" Target="/ppt/slides/slide13.xml" Id="Rb813abc26fd14fe0" /><Relationship Type="http://schemas.openxmlformats.org/officeDocument/2006/relationships/slide" Target="/ppt/slides/slide14.xml" Id="R05992ec6884b48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2b1f93b14b48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53d446444e4192" /><Relationship Type="http://schemas.openxmlformats.org/officeDocument/2006/relationships/notesMaster" Target="/ppt/notesMasters/notesMaster1.xml" Id="Rc674423020494c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5a95ab11c14293" /><Relationship Type="http://schemas.openxmlformats.org/officeDocument/2006/relationships/notesMaster" Target="/ppt/notesMasters/notesMaster1.xml" Id="R4379434e40444f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894ed4883b4237" /><Relationship Type="http://schemas.openxmlformats.org/officeDocument/2006/relationships/notesMaster" Target="/ppt/notesMasters/notesMaster1.xml" Id="Ra4b709da710c4f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92dbafe1354ed7" /><Relationship Type="http://schemas.openxmlformats.org/officeDocument/2006/relationships/notesMaster" Target="/ppt/notesMasters/notesMaster1.xml" Id="Rfbebea8c6fd742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855207e5e04d68" /><Relationship Type="http://schemas.openxmlformats.org/officeDocument/2006/relationships/notesMaster" Target="/ppt/notesMasters/notesMaster1.xml" Id="Rb19c6e5a9d4740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e29384c19c4db5" /><Relationship Type="http://schemas.openxmlformats.org/officeDocument/2006/relationships/notesMaster" Target="/ppt/notesMasters/notesMaster1.xml" Id="Ra0cc31466fa845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95e6132a1049a6" /><Relationship Type="http://schemas.openxmlformats.org/officeDocument/2006/relationships/notesMaster" Target="/ppt/notesMasters/notesMaster1.xml" Id="R7ad9e14764994c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9d0565eb0b4012" /><Relationship Type="http://schemas.openxmlformats.org/officeDocument/2006/relationships/notesMaster" Target="/ppt/notesMasters/notesMaster1.xml" Id="R8f40c6da85a149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e6cd6a1bf14237" /><Relationship Type="http://schemas.openxmlformats.org/officeDocument/2006/relationships/notesMaster" Target="/ppt/notesMasters/notesMaster1.xml" Id="R3feef38c1feb40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411903a2c04622" /><Relationship Type="http://schemas.openxmlformats.org/officeDocument/2006/relationships/notesMaster" Target="/ppt/notesMasters/notesMaster1.xml" Id="R005058fffb3d47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eeb503dec941e0" /><Relationship Type="http://schemas.openxmlformats.org/officeDocument/2006/relationships/notesMaster" Target="/ppt/notesMasters/notesMaster1.xml" Id="R6a9d3352bcfe4b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fc46bdc59f74130" /><Relationship Type="http://schemas.openxmlformats.org/officeDocument/2006/relationships/notesMaster" Target="/ppt/notesMasters/notesMaster1.xml" Id="R76d64f5761174db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8ba4db7895b415b" /><Relationship Type="http://schemas.openxmlformats.org/officeDocument/2006/relationships/notesMaster" Target="/ppt/notesMasters/notesMaster1.xml" Id="R0d61911500454df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1ab4f494e442d6" /><Relationship Type="http://schemas.openxmlformats.org/officeDocument/2006/relationships/notesMaster" Target="/ppt/notesMasters/notesMaster1.xml" Id="R0d981ef6f48a48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- results/*/grade.txt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results/util/grade.txt ... results/mmap/grade.txt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figures/xv6-trap-routing.png</a:t>
            </a:r>
          </a:p>
          <a:p xmlns:a="http://schemas.openxmlformats.org/drawingml/2006/main">
            <a:r>
              <a:t>- kernel/trap.c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§6–8</a:t>
            </a:r>
          </a:p>
          <a:p xmlns:a="http://schemas.openxmlformats.org/drawingml/2006/main">
            <a:r>
              <a:t>- kernel/trampoline.S</a:t>
            </a:r>
          </a:p>
          <a:p xmlns:a="http://schemas.openxmlformats.org/drawingml/2006/main">
            <a:r>
              <a:t>- kernel/trap.c</a:t>
            </a:r>
          </a:p>
          <a:p xmlns:a="http://schemas.openxmlformats.org/drawingml/2006/main">
            <a:r>
              <a:t>- kernel/syscall.c</a:t>
            </a:r>
          </a:p>
          <a:p xmlns:a="http://schemas.openxmlformats.org/drawingml/2006/main">
            <a:r>
              <a:t>- kernel/vm.c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§9</a:t>
            </a:r>
          </a:p>
          <a:p xmlns:a="http://schemas.openxmlformats.org/drawingml/2006/main">
            <a:r>
              <a:t>- kernel/vm.c:uvmcopy/cowalloc/copyout</a:t>
            </a:r>
          </a:p>
          <a:p xmlns:a="http://schemas.openxmlformats.org/drawingml/2006/main">
            <a:r>
              <a:t>- results/cow/grade.txt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§9</a:t>
            </a:r>
          </a:p>
          <a:p xmlns:a="http://schemas.openxmlformats.org/drawingml/2006/main">
            <a:r>
              <a:t>- kernel/vm.c</a:t>
            </a:r>
          </a:p>
          <a:p xmlns:a="http://schemas.openxmlformats.org/drawingml/2006/main">
            <a:r>
              <a:t>- kernel/kalloc.c</a:t>
            </a:r>
          </a:p>
          <a:p xmlns:a="http://schemas.openxmlformats.org/drawingml/2006/main">
            <a:r>
              <a:t>- kernel/trap.c</a:t>
            </a:r>
          </a:p>
          <a:p xmlns:a="http://schemas.openxmlformats.org/drawingml/2006/main">
            <a:r>
              <a:t>- results/cow/grade.txt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§10, §12</a:t>
            </a:r>
          </a:p>
          <a:p xmlns:a="http://schemas.openxmlformats.org/drawingml/2006/main">
            <a:r>
              <a:t>- results/thread/grade.txt</a:t>
            </a:r>
          </a:p>
          <a:p xmlns:a="http://schemas.openxmlformats.org/drawingml/2006/main">
            <a:r>
              <a:t>- results/lock/grade.txt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§13</a:t>
            </a:r>
          </a:p>
          <a:p xmlns:a="http://schemas.openxmlformats.org/drawingml/2006/main">
            <a:r>
              <a:t>- kernel/fs.c:bmap/itrunc</a:t>
            </a:r>
          </a:p>
          <a:p xmlns:a="http://schemas.openxmlformats.org/drawingml/2006/main">
            <a:r>
              <a:t>- kernel/sysfile.c:sys_symlink</a:t>
            </a:r>
          </a:p>
          <a:p xmlns:a="http://schemas.openxmlformats.org/drawingml/2006/main">
            <a:r>
              <a:t>- results/fs/grade.txt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§14</a:t>
            </a:r>
          </a:p>
          <a:p xmlns:a="http://schemas.openxmlformats.org/drawingml/2006/main">
            <a:r>
              <a:t>- kernel/proc.h</a:t>
            </a:r>
          </a:p>
          <a:p xmlns:a="http://schemas.openxmlformats.org/drawingml/2006/main">
            <a:r>
              <a:t>- kernel/sysfile.c:sys_mmap</a:t>
            </a:r>
          </a:p>
          <a:p xmlns:a="http://schemas.openxmlformats.org/drawingml/2006/main">
            <a:r>
              <a:t>- kernel/proc.c:vma_fault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§14</a:t>
            </a:r>
          </a:p>
          <a:p xmlns:a="http://schemas.openxmlformats.org/drawingml/2006/main">
            <a:r>
              <a:t>- kernel/proc.c:vma_fault/vma_unmap/vma_unmap_all</a:t>
            </a:r>
          </a:p>
          <a:p xmlns:a="http://schemas.openxmlformats.org/drawingml/2006/main">
            <a:r>
              <a:t>- kernel/exec.c</a:t>
            </a:r>
          </a:p>
          <a:p xmlns:a="http://schemas.openxmlformats.org/drawingml/2006/main">
            <a:r>
              <a:t>- results/mmap/grade.txt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scripts/defense-demo.sh</a:t>
            </a:r>
          </a:p>
          <a:p xmlns:a="http://schemas.openxmlformats.org/drawingml/2006/main">
            <a:r>
              <a:t>- docs/defense.md</a:t>
            </a:r>
          </a:p>
          <a:p xmlns:a="http://schemas.openxmlformats.org/drawingml/2006/main">
            <a:r>
              <a:t>- results/mmap/grade.txt</a:t>
            </a:r>
          </a:p>
          <a:p xmlns:a="http://schemas.openxmlformats.org/drawingml/2006/main">
            <a:r>
              <a:t>- screenshots/mmaptest-success.png (real terminal capture)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kernel/e1000.c</a:t>
            </a:r>
          </a:p>
          <a:p xmlns:a="http://schemas.openxmlformats.org/drawingml/2006/main">
            <a:r>
              <a:t>- results/net/grade.txt</a:t>
            </a:r>
          </a:p>
          <a:p xmlns:a="http://schemas.openxmlformats.org/drawingml/2006/main">
            <a:r>
              <a:t>- packets.pcap</a:t>
            </a:r>
          </a:p>
          <a:p xmlns:a="http://schemas.openxmlformats.org/drawingml/2006/main">
            <a:r>
              <a:t>- docs/defense.md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results/util/grade.txt ... results/mmap/grade.txt</a:t>
            </a:r>
          </a:p>
          <a:p xmlns:a="http://schemas.openxmlformats.org/drawingml/2006/main">
            <a:r>
              <a:t>- screenshots/grade-846.png (real terminal capture)</a:t>
            </a:r>
          </a:p>
          <a:p xmlns:a="http://schemas.openxmlformats.org/drawingml/2006/main">
            <a:r>
              <a:t>- docs/final-report.md §15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docs/defense.md</a:t>
            </a:r>
          </a:p>
          <a:p xmlns:a="http://schemas.openxmlformats.org/drawingml/2006/main">
            <a:r>
              <a:t>- scripts/defense-demo.sh</a:t>
            </a:r>
          </a:p>
          <a:p xmlns:a="http://schemas.openxmlformats.org/drawingml/2006/main">
            <a:r>
              <a:t>- results/*/grade.txt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d64939adf443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e93341dde24cb8" /><Relationship Type="http://schemas.openxmlformats.org/officeDocument/2006/relationships/slideLayout" Target="/ppt/slideLayouts/slideLayout1.xml" Id="R6079befbe1b540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79befbe1b540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ea6ad365f486c" /><Relationship Type="http://schemas.openxmlformats.org/officeDocument/2006/relationships/notesSlide" Target="/ppt/notesSlides/notesSlide1.xml" Id="R60e045f9d28c42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cdfa394964b07" /><Relationship Type="http://schemas.openxmlformats.org/officeDocument/2006/relationships/notesSlide" Target="/ppt/notesSlides/notesSlide2.xml" Id="R5d0d307c120a42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c31ab3e4e4edc" /><Relationship Type="http://schemas.openxmlformats.org/officeDocument/2006/relationships/image" Target="/ppt/media/image.png" Id="R9b44a8cd6939425f" /><Relationship Type="http://schemas.openxmlformats.org/officeDocument/2006/relationships/notesSlide" Target="/ppt/notesSlides/notesSlide3.xml" Id="R75f0f8f2f09741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5935a79104173" /><Relationship Type="http://schemas.openxmlformats.org/officeDocument/2006/relationships/notesSlide" Target="/ppt/notesSlides/notesSlide4.xml" Id="R153af0bdc3ca44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95b68436a4877" /><Relationship Type="http://schemas.openxmlformats.org/officeDocument/2006/relationships/notesSlide" Target="/ppt/notesSlides/notesSlide5.xml" Id="Rae71e02a86214d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efb43526240e0" /><Relationship Type="http://schemas.openxmlformats.org/officeDocument/2006/relationships/notesSlide" Target="/ppt/notesSlides/notesSlide6.xml" Id="R6c2fb530dd6d41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c4afd4dfc43a7" /><Relationship Type="http://schemas.openxmlformats.org/officeDocument/2006/relationships/notesSlide" Target="/ppt/notesSlides/notesSlide7.xml" Id="Rdcc66eb15ff148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bd56007d44b0b" /><Relationship Type="http://schemas.openxmlformats.org/officeDocument/2006/relationships/notesSlide" Target="/ppt/notesSlides/notesSlide8.xml" Id="Rfd7ae931fcc54c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2ee25180c46a9" /><Relationship Type="http://schemas.openxmlformats.org/officeDocument/2006/relationships/notesSlide" Target="/ppt/notesSlides/notesSlide9.xml" Id="R24ad2adb737546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59163a34748c2" /><Relationship Type="http://schemas.openxmlformats.org/officeDocument/2006/relationships/notesSlide" Target="/ppt/notesSlides/notesSlide10.xml" Id="Ra35d608ad67346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ee6849d4f4a69" /><Relationship Type="http://schemas.openxmlformats.org/officeDocument/2006/relationships/image" Target="/ppt/media/image2.png" Id="R5cfb3385a4134b6f" /><Relationship Type="http://schemas.openxmlformats.org/officeDocument/2006/relationships/notesSlide" Target="/ppt/notesSlides/notesSlide11.xml" Id="R485bfbd000104b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1abf04d4849c5" /><Relationship Type="http://schemas.openxmlformats.org/officeDocument/2006/relationships/notesSlide" Target="/ppt/notesSlides/notesSlide12.xml" Id="R8a26d812837a471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09da153e14967" /><Relationship Type="http://schemas.openxmlformats.org/officeDocument/2006/relationships/image" Target="/ppt/media/image3.png" Id="R194792e07bee4598" /><Relationship Type="http://schemas.openxmlformats.org/officeDocument/2006/relationships/notesSlide" Target="/ppt/notesSlides/notesSlide13.xml" Id="R7a023ca64337479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9bf9d80c34030" /><Relationship Type="http://schemas.openxmlformats.org/officeDocument/2006/relationships/notesSlide" Target="/ppt/notesSlides/notesSlide14.xml" Id="R277a261d507941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76001-3106-4024-BFD5-665FD34F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F4E79"/>
                </a:solidFill>
              </a:defRPr>
            </a:pPr>
            <a:r>
              <a:rPr sz="1350" b="1">
                <a:solidFill>
                  <a:srgbClr val="1F4E79"/>
                </a:solidFill>
              </a:rPr>
              <a:t>操作系统课程设计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A561B-3D56-42B7-B36C-935587FE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81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基于 MIT 6.S081 Fall 2021 xv6-riscv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的操作系统实验与实现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7F3E2-1668-4D5E-8BB9-3806EEDD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F4E79"/>
                </a:solidFill>
              </a:defRPr>
            </a:pPr>
            <a:r>
              <a:rPr sz="1950" b="1">
                <a:solidFill>
                  <a:srgbClr val="1F4E79"/>
                </a:solidFill>
              </a:rPr>
              <a:t>10/10 Labs · Official Grader 846/846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92DBB-C135-49C7-B2F5-DD42F641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647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同济大学 · 计算机科学与技术学院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软件工程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祝宸旭 · 2451770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CB967-F26F-4DF9-977D-8EE39E5C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38700"/>
            <a:ext cx="16954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E052E-B57D-4319-BD99-3CB1EEF0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010150"/>
            <a:ext cx="1352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F4E79"/>
                </a:solidFill>
              </a:defRPr>
            </a:pPr>
            <a:r>
              <a:rPr sz="2100" b="1">
                <a:solidFill>
                  <a:srgbClr val="1F4E79"/>
                </a:solidFill>
              </a:rPr>
              <a:t>xv6</a:t>
            </a:r>
          </a:p>
          <a:p xmlns:a="http://schemas.openxmlformats.org/drawingml/2006/main">
            <a:pPr algn="ctr">
              <a:buNone/>
              <a:defRPr sz="2100" b="1">
                <a:solidFill>
                  <a:srgbClr val="1F4E79"/>
                </a:solidFill>
              </a:defRPr>
            </a:pPr>
            <a:r>
              <a:rPr sz="2100" b="1">
                <a:solidFill>
                  <a:srgbClr val="1F4E79"/>
                </a:solidFill>
              </a:rPr>
              <a:t>RISC-V</a:t>
            </a:r>
          </a:p>
        </p:txBody>
      </p:sp>
    </p:spTree>
    <p:extLst>
      <p:ext uri="{BB962C8B-B14F-4D97-AF65-F5344CB8AC3E}">
        <p14:creationId xmlns:p14="http://schemas.microsoft.com/office/powerpoint/2010/main" val="70270567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014E7F-4B4D-4A1A-8A58-38D7B84E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AE30C82E-1129-44BD-A667-A3E52974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全部 10 个实验完成，官方评分 846/846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F13E3-2478-4E36-843E-4396B7CF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A2262-9435-40DB-BFDB-20A5130C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4D672-8BD0-467F-9618-1AB34829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47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3D8DFF"/>
                </a:solidFill>
              </a:defRPr>
            </a:pPr>
            <a:r>
              <a:rPr sz="4500" b="1">
                <a:solidFill>
                  <a:srgbClr val="3D8DFF"/>
                </a:solidFill>
              </a:rPr>
              <a:t>10/10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7D122-4B04-45D5-BB88-5201D6A0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独立 Lab 分支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1AFAAA-6EAD-4D4D-BB2F-5DB71E07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5260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846/846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0D8AC-7A20-456E-9288-177E274E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官方 grader 总分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391F5-260B-4A49-99EC-1C8238E1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覆盖从用户程序到硬件接口的完整路径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8CA82-7027-494A-9023-120EEC77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810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用户程序 / System Call / Trap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Sv39 / COW / mmap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Thread / Lock / Network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File System / 日志 / inode</a:t>
            </a:r>
          </a:p>
        </p:txBody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096125" y="1771650"/>
          <a:ext xmlns:a="http://schemas.openxmlformats.org/drawingml/2006/main" cx="441007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190625"/>
                <a:gridCol w="809625"/>
                <a:gridCol w="1428750"/>
                <a:gridCol w="809625"/>
              </a:tblGrid>
              <a:tr h="5715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Lab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Lab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util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thread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60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syscall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35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net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pgtbl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46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70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traps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85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fs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110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140</a:t>
                      </a:r>
                    </a:p>
                  </a:txBody>
                  <a:tcPr marL="76200" marR="76200" marT="57150" marB="5715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51160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AAD38-B462-4E24-9C95-A78F30A1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4EF097F2-FB3A-46AA-BF6C-1E375D57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Trap 边界把用户态请求分流到内核子系统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04EC7-37F1-4D61-A570-399F1318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AD5AC-E961-4F8E-AF3D-3D17A513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44a8cd6939425f"/>
          <a:stretch xmlns:a="http://schemas.openxmlformats.org/drawingml/2006/main"/>
        </p:blipFill>
        <p:spPr>
          <a:xfrm xmlns:a="http://schemas.openxmlformats.org/drawingml/2006/main">
            <a:off x="685800" y="2628025"/>
            <a:ext cx="8096250" cy="223059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6E763-43D8-48EA-8EBD-481F04F8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47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三个入口原因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A7633-4EBC-4C48-9ECA-142DE0D7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431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ecall → syscall()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interrupt → devintr()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page fault → VM handler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5CC86-A5B2-41A8-9572-4522F159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76750"/>
            <a:ext cx="238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设备中断不经过 syscall()</a:t>
            </a:r>
          </a:p>
        </p:txBody>
      </p:sp>
    </p:spTree>
    <p:extLst>
      <p:ext uri="{BB962C8B-B14F-4D97-AF65-F5344CB8AC3E}">
        <p14:creationId xmlns:p14="http://schemas.microsoft.com/office/powerpoint/2010/main" val="6828408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CF068-130A-4D21-8581-3EB16B04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235210BE-87CF-4368-AAE0-8389C04C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一次系统调用跨越用户态、Trap 与页表边界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83C08-2A2C-4B80-AA65-D111AE75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B7B14-7A5C-40EB-A322-9ACEC900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28A3E-70A9-46FB-B12B-E2E41CC4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 stub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14360-D035-454C-8647-FCAED83C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78668-7762-4E0C-A94B-18AF79C5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uservec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CB1C5-41C0-4474-ACEF-0CF80794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usertrap()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D430A-F1E9-474C-B5BC-1A319983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syscall()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9A6C0-1566-4E68-93B9-5891E777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sys_* handler</a:t>
            </a:r>
          </a:p>
        </p:txBody>
      </p:sp>
      <p:cxnSp>
        <p:nvCxnSpPr>
          <p:cNvPr id="6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145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8620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6578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42950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2011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EA340-0D6A-426E-ADBE-DD8EB4B6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Sv39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5CA792-4B80-4ECC-98A3-A47C9959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438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三级页表，每级 9 位索引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4 KiB 页面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PTE 定义 R/W/X/U/A 权限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2D84F4-2118-4895-A588-BF27D52F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Trapframe + Trampoline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F5FF1-EA23-438A-9703-ED14A65D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保存完整用户寄存器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跨 satp 切换保持入口可执行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scause 决定分流路径</a:t>
            </a:r>
          </a:p>
        </p:txBody>
      </p:sp>
    </p:spTree>
    <p:extLst>
      <p:ext uri="{BB962C8B-B14F-4D97-AF65-F5344CB8AC3E}">
        <p14:creationId xmlns:p14="http://schemas.microsoft.com/office/powerpoint/2010/main" val="8012762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39C23A-84FF-456B-B81D-9ABC73F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8A0A91A1-16E7-4FF1-BDEA-8D150E04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COW 让 fork 的复制成本延迟到真正写入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9FDDD-4CDA-479C-B98D-8CCAB361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4B8791-F4DF-4E71-9E3A-FAB707FB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11150-9448-415B-9D37-5246FD7C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写入前：父子共享只读物理页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639C1-EEC5-46FA-9306-A43A041F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Parent PTE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FE085-A25A-4324-BD64-38E8D9EF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Child PTE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10CB9-DDB4-401E-A775-7A3A7144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05150"/>
            <a:ext cx="180975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Shared PA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ref = 2</a:t>
            </a:r>
          </a:p>
        </p:txBody>
      </p:sp>
      <p:cxnSp>
        <p:nvCxnSpPr>
          <p:cNvPr id="6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52700" y="2838450"/>
            <a:ext cx="1162050" cy="7429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2552700" y="3581400"/>
            <a:ext cx="1162050" cy="685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C084F-2EF2-404F-82E9-4D9C7548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写入后：故障路径拆分映射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C0DB0A-D373-455F-9C21-EAEC9312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Parent PTE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80AEB-9511-4AE5-A38C-9F32CBE7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8F5E9"/>
          </a:solidFill>
          <a:ln xmlns:a="http://schemas.openxmlformats.org/drawingml/2006/main" w="14288">
            <a:solidFill>
              <a:srgbClr val="2E7D3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Child PTE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3EF38-F9B4-47B8-8CD6-58F346D5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400300"/>
            <a:ext cx="1666875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Old PA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 =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E5179F-1394-4330-BDD0-5428555B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829050"/>
            <a:ext cx="1666875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8F5E9"/>
          </a:solidFill>
          <a:ln xmlns:a="http://schemas.openxmlformats.org/drawingml/2006/main" w="14288">
            <a:solidFill>
              <a:srgbClr val="2E7D3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New PA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 = 1</a:t>
            </a:r>
          </a:p>
        </p:txBody>
      </p:sp>
      <p:cxnSp>
        <p:nvCxnSpPr>
          <p:cNvPr id="68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86750" y="2838450"/>
            <a:ext cx="1257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286750" y="4267200"/>
            <a:ext cx="1257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D32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B69166-D940-4913-AB01-A7531FB7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用户 store fault 与内核 copyout 都必须遵守同一拆分规则</a:t>
            </a:r>
          </a:p>
        </p:txBody>
      </p:sp>
    </p:spTree>
    <p:extLst>
      <p:ext uri="{BB962C8B-B14F-4D97-AF65-F5344CB8AC3E}">
        <p14:creationId xmlns:p14="http://schemas.microsoft.com/office/powerpoint/2010/main" val="17735270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A02695-584B-4842-85B8-5D085560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1C2196B-99B8-441B-919D-A4C5BF49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COW 的正确性依赖三条同时成立的不变量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A8A89-0DCA-49BE-BB02-5F4B1A14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55279-1B17-4DD5-88D6-90D837F4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3FCC7-93E6-4A3A-99EC-B6C65D1F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uvmcopy()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共享 PA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2BC74-A185-4EC9-8260-6B862430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PTE_COW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清除 PTE_W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D1952-64EF-48F5-A1D5-752C7133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reference count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映射成对计数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AAD68E-A88D-4EA4-B9EB-9A5A11E7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00250"/>
            <a:ext cx="24765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cowalloc()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单引用恢复 / 多引用复制</a:t>
            </a:r>
          </a:p>
        </p:txBody>
      </p:sp>
      <p:cxnSp>
        <p:nvCxnSpPr>
          <p:cNvPr id="45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59080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01015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42950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A7F498-92AB-4FC5-95D6-9C9F40CF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8382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共享页不可直接写：父子 PTE 均移除 PTE_W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引用计数准确：每个映射增加，每次解除映射减少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所有写路径一致：usertrap() 与 copyout() 共同调用 cowalloc()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F7FFC-17B4-42E8-8EA9-142530DD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90950"/>
            <a:ext cx="2343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110/110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8828B-AE19-4DAD-822F-F5BC9959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6291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cow 官方评分</a:t>
            </a:r>
          </a:p>
        </p:txBody>
      </p:sp>
    </p:spTree>
    <p:extLst>
      <p:ext uri="{BB962C8B-B14F-4D97-AF65-F5344CB8AC3E}">
        <p14:creationId xmlns:p14="http://schemas.microsoft.com/office/powerpoint/2010/main" val="2298295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5A2E19-61E6-4A3C-8D70-FF36A052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A66E908D-805E-4E29-AD45-04447DA1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并发优化从状态归属出发，而不是机械增加锁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72114-C2A7-43E1-8BE2-BFA293B9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C66770-C583-45DD-8AFC-AE28AB9B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5E4E8-4C24-4DFC-AC29-13326EE9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Multithreading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E2B00-D376-4562-AF98-FADF3074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thread_switch 保存 ra / sp / s0–s11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hash table：每 bucket mutex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barrier：mutex + cond + generation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CB6EDF-CBF6-4F04-BC5C-C44AB8B6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Locks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090E6-B8C6-4E3B-A427-683FB0CA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allocator：per-CPU freelist + steal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bcache：13 buckets + eviction 慢路径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固定锁序维护唯一缓存副本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F25A91-78FD-491B-BDBA-C9591C54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9AB62D-1FF6-43F4-8311-0568370A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本次 bcache test-and-set：62,783 → 163（约下降 99.7%）</a:t>
            </a:r>
          </a:p>
        </p:txBody>
      </p:sp>
    </p:spTree>
    <p:extLst>
      <p:ext uri="{BB962C8B-B14F-4D97-AF65-F5344CB8AC3E}">
        <p14:creationId xmlns:p14="http://schemas.microsoft.com/office/powerpoint/2010/main" val="9652433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8546D-2B5F-42A7-B912-2EA8ADA7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FB4A27A-00EC-4463-A154-BFC7BD8C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双重间接块在不增大 inode 的前提下扩展大文件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BEF7E-AFF2-4871-9ABE-15D34A47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7D9BB-E754-41D2-8E6F-14D0DBC8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F69E1-77E3-433E-B8B3-DCAAB614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inode addrs[13]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2CA46-1D18-4440-B55C-195A2A5B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638300"/>
            <a:ext cx="17145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11 direct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14A04-9A22-47BB-92CF-A6F869C0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17145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 single indirect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 blocks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AE066-6CFB-4FAB-BC27-B49FD2C0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943350"/>
            <a:ext cx="171450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 double indirect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361F2-7A32-4D83-A0FB-955F2606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943350"/>
            <a:ext cx="190500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 index blocks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B2F75-A33E-407D-93F6-3F8C0651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43350"/>
            <a:ext cx="20002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256² data blocks</a:t>
            </a:r>
          </a:p>
        </p:txBody>
      </p:sp>
      <p:cxnSp>
        <p:nvCxnSpPr>
          <p:cNvPr id="5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495550" y="1981200"/>
            <a:ext cx="89535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495550" y="2505075"/>
            <a:ext cx="895350" cy="5334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95550" y="2505075"/>
            <a:ext cx="895350" cy="1800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105400" y="4305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058150" y="4305300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47D7F-E5CC-4A44-A838-A7938887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4800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F4E79"/>
                </a:solidFill>
              </a:defRPr>
            </a:pPr>
            <a:r>
              <a:rPr sz="2325" b="1">
                <a:solidFill>
                  <a:srgbClr val="1F4E79"/>
                </a:solidFill>
              </a:rPr>
              <a:t>MAXFILE = 11 + 256 + 256² = 65,803 blocks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6114A-ACCD-49CC-9569-1B795EAB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bmap() 按需分配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itrunc() 由叶到根释放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symlink 最大跟随深度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81F7D-25AD-404D-B5A6-8568B565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F4E79"/>
                </a:solidFill>
              </a:defRPr>
            </a:pPr>
            <a:r>
              <a:rPr sz="1575" b="1">
                <a:solidFill>
                  <a:srgbClr val="1F4E79"/>
                </a:solidFill>
              </a:rPr>
              <a:t>FS 100/100 · 现场只演示 symlinktest，完整 bigfile 证据见 results/fs/grade.txt</a:t>
            </a:r>
          </a:p>
        </p:txBody>
      </p:sp>
    </p:spTree>
    <p:extLst>
      <p:ext uri="{BB962C8B-B14F-4D97-AF65-F5344CB8AC3E}">
        <p14:creationId xmlns:p14="http://schemas.microsoft.com/office/powerpoint/2010/main" val="3217163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E45FB8-C528-4C30-99D6-B6F27B42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B7F29AF8-1D69-4552-99CD-5E33ACF7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mmap 先登记 VMA，首次数据访问时才真正装页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D6627-6EDD-43A4-AE73-A35C228E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1357A-E478-4BA8-9FDB-15496283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A1A8F-8323-42A6-8090-635ED779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用户虚拟地址空间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47174-7E30-4ABA-9355-1A45860E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TRAMPOLINE / TRAPFRAME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6A979-182D-4623-80FE-EAA172CE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00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VMA 2（未 fault，无 PTE）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4B064-A65E-45D8-9EC5-DA160445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VMA 1（已装页）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95E96-20ED-4A9D-B9F4-C3F4E115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4000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heap / stack / 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4EE0E-FCDB-4519-B0B9-9B210A81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733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VMA 元数据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A7696-AEC9-47F4-A057-68261F35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66950"/>
            <a:ext cx="5143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addr / length / prot / flags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file 引用 + offset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每进程最多 16 个 VMA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地址从 TRAPFRAME 下方向下选择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5319F-117A-41E0-A335-48C3D730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43400"/>
            <a:ext cx="5143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F546DB-D25C-4805-B6CD-F7C09F2E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14850"/>
            <a:ext cx="464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Lazy mapping 的收益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只为实际访问页面分配物理内存并执行文件 I/O</a:t>
            </a:r>
          </a:p>
        </p:txBody>
      </p:sp>
    </p:spTree>
    <p:extLst>
      <p:ext uri="{BB962C8B-B14F-4D97-AF65-F5344CB8AC3E}">
        <p14:creationId xmlns:p14="http://schemas.microsoft.com/office/powerpoint/2010/main" val="145604504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55894-5805-41B6-BB5E-FD2D3ECC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9E00E1B4-7426-4856-A115-E5EBB5C2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VMA、fault、fork、munmap 与 exit 构成完整生命周期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446F4-040E-4626-8DFF-F8458CD4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F4CED-C022-47CA-A96B-07DDDB96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53D81-A570-472A-9596-4A07BD2B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mmap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登记 VMA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filedup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7C556-29AB-4F37-A88B-EC0DB891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fault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kalloc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readi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mappages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FA964-15BE-4877-A72F-C119D3A0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access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PTE 权限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读 / 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89FB4-85A2-4F39-AE04-508EEBFF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fork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复制 VMA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独立 fault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B1356-7242-40A6-8D90-97923136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munmap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shared 回写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释放 PTE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4772F8-4F24-4B53-A30D-A7E47832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exit / exec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unmap_all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fileclose</a:t>
            </a:r>
          </a:p>
        </p:txBody>
      </p:sp>
      <p:cxnSp>
        <p:nvCxnSpPr>
          <p:cNvPr id="6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336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767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0198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9629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9060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8FDAE-A1E9-4811-A314-76465D32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关键区分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C0F10B-8A73-4182-BB47-74212455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</a:defRPr>
            </a:pPr>
            <a:r>
              <a:rPr sz="2400" b="1">
                <a:solidFill>
                  <a:srgbClr val="111111"/>
                </a:solidFill>
              </a:rPr>
              <a:t>VMA 已登记 ≠ PTE / 物理页已经存在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58E5B0-8245-42F1-9C9D-EBE97222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095750"/>
            <a:ext cx="2343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140/140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5FFCE9-9B47-4346-B857-15354C52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9339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mmap 官方评分</a:t>
            </a:r>
          </a:p>
        </p:txBody>
      </p:sp>
    </p:spTree>
    <p:extLst>
      <p:ext uri="{BB962C8B-B14F-4D97-AF65-F5344CB8AC3E}">
        <p14:creationId xmlns:p14="http://schemas.microsoft.com/office/powerpoint/2010/main" val="179308066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9187F-F772-4E87-8E22-F38F84F1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6BB79519-F512-4ECF-8F29-DDB82F3C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现场 Demo 聚焦 mmap，结论回到资源生命周期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DECBB-DC4D-4208-9D7D-A0D59F1C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07F67-3F74-471C-AAA9-FE9419E3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A8A308-E472-45D3-9F57-093446CE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首选命令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DA9CA-6BA0-422E-A58F-C69A56BE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504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07B0B-75B9-4764-8F32-E923C460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462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$ ./scripts/defense-demo.sh mmap demo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$ mmaptest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0857A-0AAA-49D8-A685-E6B6C4B2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结果：mmaptest: all tests succeeded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备用：cow demo → cowtest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C09C5-3C75-4D9D-83C7-B4B40D24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10 Labs · 846/846 · COW + mmap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b3385a4134b6f"/>
          <a:stretch xmlns:a="http://schemas.openxmlformats.org/drawingml/2006/main"/>
        </p:blipFill>
        <p:spPr>
          <a:xfrm xmlns:a="http://schemas.openxmlformats.org/drawingml/2006/main">
            <a:off x="7207956" y="1752600"/>
            <a:ext cx="3567289" cy="3009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859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8530AC-A50B-41EC-A8A2-2D3BA64D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16D60D12-4379-4C1C-8D9D-E04982F0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Network Driver：DMA descriptor ring 的所有权交接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176D7-8C14-4B3A-9E7F-E17A5BAC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38CCE-40CE-4E34-8B65-995002E0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D08FA-8242-4ED9-A9A5-0FBC8576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CPU / driver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B4EA5-7BBD-410D-99FD-65244F8C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TX ring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TDT + 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01F751-858C-4E07-9E5E-FC483C78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RX ring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RDT + DD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B3FE7-A704-4395-A092-6D8C9161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43200"/>
            <a:ext cx="200025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E1000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DMA</a:t>
            </a:r>
          </a:p>
        </p:txBody>
      </p:sp>
      <p:cxnSp>
        <p:nvCxnSpPr>
          <p:cNvPr id="4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857500" y="2238375"/>
            <a:ext cx="133350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191250" y="2238375"/>
            <a:ext cx="1428750" cy="981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8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6191250" y="3219450"/>
            <a:ext cx="142875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7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 flipV="1">
            <a:off x="2857500" y="2905125"/>
            <a:ext cx="133350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AE8C95-EC74-4393-A950-E4ECFEE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95500"/>
            <a:ext cx="1714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DD 位决定 buffer 所有权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调用 net_rx() 前释放设备锁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memory barrier 保证描述符可见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09094-D64E-4FC5-A0DF-1F8018A4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不做现场交互 Demo：nettests 依赖 host-side make server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证据：results/net/grade.txt + packets.pcap</a:t>
            </a:r>
          </a:p>
        </p:txBody>
      </p:sp>
    </p:spTree>
    <p:extLst>
      <p:ext uri="{BB962C8B-B14F-4D97-AF65-F5344CB8AC3E}">
        <p14:creationId xmlns:p14="http://schemas.microsoft.com/office/powerpoint/2010/main" val="46251647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8EAA6-535E-4154-B89A-18377628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3">
            <a:extLst xmlns:a="http://schemas.openxmlformats.org/drawingml/2006/main">
              <a:ext uri="{FF2B5EF4-FFF2-40B4-BE49-F238E27FC236}">
                <a16:creationId xmlns:a16="http://schemas.microsoft.com/office/drawing/2014/main" id="{0D4E4AED-833C-453B-895D-538F619F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完整成绩与验证证据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7A87B-C820-4F5A-91F8-05273128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88CC8-BF01-4E8C-AEBF-003A8B02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4792e07bee4598"/>
          <a:stretch xmlns:a="http://schemas.openxmlformats.org/drawingml/2006/main"/>
        </p:blipFill>
        <p:spPr>
          <a:xfrm xmlns:a="http://schemas.openxmlformats.org/drawingml/2006/main">
            <a:off x="3589867" y="1638300"/>
            <a:ext cx="5012267" cy="4229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710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D495A-B076-4497-B295-7C125AC3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4">
            <a:extLst xmlns:a="http://schemas.openxmlformats.org/drawingml/2006/main">
              <a:ext uri="{FF2B5EF4-FFF2-40B4-BE49-F238E27FC236}">
                <a16:creationId xmlns:a16="http://schemas.microsoft.com/office/drawing/2014/main" id="{2C9E1B7E-C97A-47C2-B87E-FAA8A238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详细源码与测试定位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EFF66-4A12-4E27-BE0A-A4ADCB7C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CB534-2481-4407-948B-E5D6A93B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429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9750"/>
                <a:gridCol w="1524000"/>
                <a:gridCol w="4286250"/>
                <a:gridCol w="2857500"/>
              </a:tblGrid>
              <a:tr h="4286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Topic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Branch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Source entry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Test / evidence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System 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kernel/syscall.c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syscall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Page Table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pgtbl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kernel/vm.c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pgtbl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kernel/trap.c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traps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uvmcopy / cowalloc / copyout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cowtest / grade.txt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Thread / 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thread / 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uthread_switch.S / kalloc.c / bio.c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saved grade evidence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File System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fs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bmap / itrunc / sys_symlink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symlinktest only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sys_mmap / vma_fault / vma_unmap_all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 demo</a:t>
                      </a:r>
                    </a:p>
                  </a:txBody>
                  <a:tcPr marL="76200" marR="76200" marT="57150" marB="5715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1F413-AD25-4377-B8B3-E3F06634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完整答辩索引：docs/defense.md · 主现场 Demo：mmap · FS 仅 symlinktest · Net 使用保存证据</a:t>
            </a:r>
          </a:p>
        </p:txBody>
      </p:sp>
    </p:spTree>
    <p:extLst>
      <p:ext uri="{BB962C8B-B14F-4D97-AF65-F5344CB8AC3E}">
        <p14:creationId xmlns:p14="http://schemas.microsoft.com/office/powerpoint/2010/main" val="17123947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2026-08-20T16:59:43.4440000Z</dcterms:created>
  <dcterms:modified xsi:type="dcterms:W3CDTF">2026-08-20T16:59:43.4440000Z</dcterms:modified>
</coreProperties>
</file>