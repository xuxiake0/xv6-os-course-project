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9f23fbd5da48fd" /><Relationship Type="http://schemas.openxmlformats.org/officeDocument/2006/relationships/extended-properties" Target="/docProps/app.xml" Id="R6f64bd2a1e974daf" /><Relationship Type="http://schemas.openxmlformats.org/officeDocument/2006/relationships/officeDocument" Target="/ppt/presentation.xml" Id="Rded1f18e4c7b4ea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7c9d0cacf64803"/>
  </p:sldMasterIdLst>
  <p:notesMasterIdLst>
    <p:notesMasterId xmlns:r="http://schemas.openxmlformats.org/officeDocument/2006/relationships" r:id="Rd1147e36a83e446d"/>
  </p:notesMasterIdLst>
  <p:sldIdLst>
    <p:sldId xmlns:r="http://schemas.openxmlformats.org/officeDocument/2006/relationships" id="256" r:id="R3062d67236fd4efa"/>
    <p:sldId xmlns:r="http://schemas.openxmlformats.org/officeDocument/2006/relationships" id="257" r:id="R22707c2296bf47cf"/>
    <p:sldId xmlns:r="http://schemas.openxmlformats.org/officeDocument/2006/relationships" id="258" r:id="R9f35b04820814e99"/>
    <p:sldId xmlns:r="http://schemas.openxmlformats.org/officeDocument/2006/relationships" id="259" r:id="R1f1863fcef7f4cda"/>
    <p:sldId xmlns:r="http://schemas.openxmlformats.org/officeDocument/2006/relationships" id="260" r:id="R6a9dafd8bfe24989"/>
    <p:sldId xmlns:r="http://schemas.openxmlformats.org/officeDocument/2006/relationships" id="261" r:id="R0269f3711e6846d5"/>
    <p:sldId xmlns:r="http://schemas.openxmlformats.org/officeDocument/2006/relationships" id="262" r:id="Ra48a5731b6b34985"/>
    <p:sldId xmlns:r="http://schemas.openxmlformats.org/officeDocument/2006/relationships" id="263" r:id="R83768398e41044fa"/>
    <p:sldId xmlns:r="http://schemas.openxmlformats.org/officeDocument/2006/relationships" id="264" r:id="Rc288bcf6767246ca"/>
    <p:sldId xmlns:r="http://schemas.openxmlformats.org/officeDocument/2006/relationships" id="265" r:id="Rde623362d0674972"/>
    <p:sldId xmlns:r="http://schemas.openxmlformats.org/officeDocument/2006/relationships" id="266" r:id="Rf0e1795bc091477d"/>
    <p:sldId xmlns:r="http://schemas.openxmlformats.org/officeDocument/2006/relationships" id="267" r:id="Rbcab6828bb7b4098"/>
    <p:sldId xmlns:r="http://schemas.openxmlformats.org/officeDocument/2006/relationships" id="268" r:id="Ra684c21928a64816"/>
    <p:sldId xmlns:r="http://schemas.openxmlformats.org/officeDocument/2006/relationships" id="269" r:id="R0219ea3644a24b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ae8ee8f0e644bdd" /><Relationship Type="http://schemas.openxmlformats.org/officeDocument/2006/relationships/slideMaster" Target="/ppt/slideMasters/slideMaster1.xml" Id="R647c9d0cacf64803" /><Relationship Type="http://schemas.openxmlformats.org/officeDocument/2006/relationships/notesMaster" Target="/ppt/notesMasters/notesMaster1.xml" Id="Rd1147e36a83e446d" /><Relationship Type="http://schemas.openxmlformats.org/officeDocument/2006/relationships/presProps" Target="/ppt/presProps.xml" Id="Rbc3399df67254e48" /><Relationship Type="http://schemas.openxmlformats.org/officeDocument/2006/relationships/tableStyles" Target="/ppt/tableStyles.xml" Id="R6ffd63058e804cdf" /><Relationship Type="http://schemas.openxmlformats.org/officeDocument/2006/relationships/slide" Target="/ppt/slides/slide1.xml" Id="R3062d67236fd4efa" /><Relationship Type="http://schemas.openxmlformats.org/officeDocument/2006/relationships/slide" Target="/ppt/slides/slide2.xml" Id="R22707c2296bf47cf" /><Relationship Type="http://schemas.openxmlformats.org/officeDocument/2006/relationships/slide" Target="/ppt/slides/slide3.xml" Id="R9f35b04820814e99" /><Relationship Type="http://schemas.openxmlformats.org/officeDocument/2006/relationships/slide" Target="/ppt/slides/slide4.xml" Id="R1f1863fcef7f4cda" /><Relationship Type="http://schemas.openxmlformats.org/officeDocument/2006/relationships/slide" Target="/ppt/slides/slide5.xml" Id="R6a9dafd8bfe24989" /><Relationship Type="http://schemas.openxmlformats.org/officeDocument/2006/relationships/slide" Target="/ppt/slides/slide6.xml" Id="R0269f3711e6846d5" /><Relationship Type="http://schemas.openxmlformats.org/officeDocument/2006/relationships/slide" Target="/ppt/slides/slide7.xml" Id="Ra48a5731b6b34985" /><Relationship Type="http://schemas.openxmlformats.org/officeDocument/2006/relationships/slide" Target="/ppt/slides/slide8.xml" Id="R83768398e41044fa" /><Relationship Type="http://schemas.openxmlformats.org/officeDocument/2006/relationships/slide" Target="/ppt/slides/slide9.xml" Id="Rc288bcf6767246ca" /><Relationship Type="http://schemas.openxmlformats.org/officeDocument/2006/relationships/slide" Target="/ppt/slides/slide10.xml" Id="Rde623362d0674972" /><Relationship Type="http://schemas.openxmlformats.org/officeDocument/2006/relationships/slide" Target="/ppt/slides/slide11.xml" Id="Rf0e1795bc091477d" /><Relationship Type="http://schemas.openxmlformats.org/officeDocument/2006/relationships/slide" Target="/ppt/slides/slide12.xml" Id="Rbcab6828bb7b4098" /><Relationship Type="http://schemas.openxmlformats.org/officeDocument/2006/relationships/slide" Target="/ppt/slides/slide13.xml" Id="Ra684c21928a64816" /><Relationship Type="http://schemas.openxmlformats.org/officeDocument/2006/relationships/slide" Target="/ppt/slides/slide14.xml" Id="R0219ea3644a24b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40cbdc9510f4cb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0a5308ef844379" /><Relationship Type="http://schemas.openxmlformats.org/officeDocument/2006/relationships/notesMaster" Target="/ppt/notesMasters/notesMaster1.xml" Id="Ra9947bc9352143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5256e423dab40cf" /><Relationship Type="http://schemas.openxmlformats.org/officeDocument/2006/relationships/notesMaster" Target="/ppt/notesMasters/notesMaster1.xml" Id="Rdeaadc050c0443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df0641614e4d3e" /><Relationship Type="http://schemas.openxmlformats.org/officeDocument/2006/relationships/notesMaster" Target="/ppt/notesMasters/notesMaster1.xml" Id="R1539cc748d0f4da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d105dc7dedf4fd7" /><Relationship Type="http://schemas.openxmlformats.org/officeDocument/2006/relationships/notesMaster" Target="/ppt/notesMasters/notesMaster1.xml" Id="R1b88b4140de2445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48f9d6ef8f74e3e" /><Relationship Type="http://schemas.openxmlformats.org/officeDocument/2006/relationships/notesMaster" Target="/ppt/notesMasters/notesMaster1.xml" Id="Rff1a9e3e063749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e60cdcaba24d3e" /><Relationship Type="http://schemas.openxmlformats.org/officeDocument/2006/relationships/notesMaster" Target="/ppt/notesMasters/notesMaster1.xml" Id="R652f2fbb220842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d3c42fa562a458f" /><Relationship Type="http://schemas.openxmlformats.org/officeDocument/2006/relationships/notesMaster" Target="/ppt/notesMasters/notesMaster1.xml" Id="R872b8a81a20045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108381f961c4595" /><Relationship Type="http://schemas.openxmlformats.org/officeDocument/2006/relationships/notesMaster" Target="/ppt/notesMasters/notesMaster1.xml" Id="R656e2659b8624c6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bb6c05981904897" /><Relationship Type="http://schemas.openxmlformats.org/officeDocument/2006/relationships/notesMaster" Target="/ppt/notesMasters/notesMaster1.xml" Id="Rd5a6b41f13544af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d65b2beb1784984" /><Relationship Type="http://schemas.openxmlformats.org/officeDocument/2006/relationships/notesMaster" Target="/ppt/notesMasters/notesMaster1.xml" Id="R4a297e46c2f8458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0d571e53ff141d6" /><Relationship Type="http://schemas.openxmlformats.org/officeDocument/2006/relationships/notesMaster" Target="/ppt/notesMasters/notesMaster1.xml" Id="R7ea2f603e2fd4f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379c13d55845e9" /><Relationship Type="http://schemas.openxmlformats.org/officeDocument/2006/relationships/notesMaster" Target="/ppt/notesMasters/notesMaster1.xml" Id="Rb6dded9f55ca45b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bf02fcf0c54357" /><Relationship Type="http://schemas.openxmlformats.org/officeDocument/2006/relationships/notesMaster" Target="/ppt/notesMasters/notesMaster1.xml" Id="R663605a84630445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339f2d4d91e4fe5" /><Relationship Type="http://schemas.openxmlformats.org/officeDocument/2006/relationships/notesMaster" Target="/ppt/notesMasters/notesMaster1.xml" Id="Race167b1c0494aa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results/util/grade.txt ...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docs/architecture.md</a:t>
            </a:r>
          </a:p>
          <a:p xmlns:a="http://schemas.openxmlformats.org/drawingml/2006/main">
            <a:r>
              <a:t>- figures/xv6-trap-routing.png</a:t>
            </a:r>
          </a:p>
          <a:p xmlns:a="http://schemas.openxmlformats.org/drawingml/2006/main">
            <a:r>
              <a:t>- kernel/trap.c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§6–8</a:t>
            </a:r>
          </a:p>
          <a:p xmlns:a="http://schemas.openxmlformats.org/drawingml/2006/main">
            <a:r>
              <a:t>- kernel/trampoline.S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kernel/syscall.c</a:t>
            </a:r>
          </a:p>
          <a:p xmlns:a="http://schemas.openxmlformats.org/drawingml/2006/main">
            <a:r>
              <a:t>- kernel/vm.c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kernel/vm.c:uvmcopy/cowalloc/copyout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§9</a:t>
            </a:r>
          </a:p>
          <a:p xmlns:a="http://schemas.openxmlformats.org/drawingml/2006/main">
            <a:r>
              <a:t>- kernel/vm.c</a:t>
            </a:r>
          </a:p>
          <a:p xmlns:a="http://schemas.openxmlformats.org/drawingml/2006/main">
            <a:r>
              <a:t>- kernel/kalloc.c</a:t>
            </a:r>
          </a:p>
          <a:p xmlns:a="http://schemas.openxmlformats.org/drawingml/2006/main">
            <a:r>
              <a:t>- kernel/trap.c</a:t>
            </a:r>
          </a:p>
          <a:p xmlns:a="http://schemas.openxmlformats.org/drawingml/2006/main">
            <a:r>
              <a:t>- results/cow/grade.txt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§10, §12</a:t>
            </a:r>
          </a:p>
          <a:p xmlns:a="http://schemas.openxmlformats.org/drawingml/2006/main">
            <a:r>
              <a:t>- results/thread/grade.txt</a:t>
            </a:r>
          </a:p>
          <a:p xmlns:a="http://schemas.openxmlformats.org/drawingml/2006/main">
            <a:r>
              <a:t>- results/lock/grade.txt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§13</a:t>
            </a:r>
          </a:p>
          <a:p xmlns:a="http://schemas.openxmlformats.org/drawingml/2006/main">
            <a:r>
              <a:t>- kernel/fs.c:bmap/itrunc</a:t>
            </a:r>
          </a:p>
          <a:p xmlns:a="http://schemas.openxmlformats.org/drawingml/2006/main">
            <a:r>
              <a:t>- kernel/sysfile.c:sys_symlink</a:t>
            </a:r>
          </a:p>
          <a:p xmlns:a="http://schemas.openxmlformats.org/drawingml/2006/main">
            <a:r>
              <a:t>- results/fs/grade.txt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kernel/proc.h</a:t>
            </a:r>
          </a:p>
          <a:p xmlns:a="http://schemas.openxmlformats.org/drawingml/2006/main">
            <a:r>
              <a:t>- kernel/sysfile.c:sys_mmap</a:t>
            </a:r>
          </a:p>
          <a:p xmlns:a="http://schemas.openxmlformats.org/drawingml/2006/main">
            <a:r>
              <a:t>- kernel/proc.c:vma_fault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docs/final-report.md §14</a:t>
            </a:r>
          </a:p>
          <a:p xmlns:a="http://schemas.openxmlformats.org/drawingml/2006/main">
            <a:r>
              <a:t>- kernel/proc.c:vma_fault/vma_unmap/vma_unmap_all</a:t>
            </a:r>
          </a:p>
          <a:p xmlns:a="http://schemas.openxmlformats.org/drawingml/2006/main">
            <a:r>
              <a:t>- kernel/exec.c</a:t>
            </a:r>
          </a:p>
          <a:p xmlns:a="http://schemas.openxmlformats.org/drawingml/2006/main">
            <a:r>
              <a:t>- results/mmap/grade.txt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results/mmap/grade.txt</a:t>
            </a:r>
          </a:p>
          <a:p xmlns:a="http://schemas.openxmlformats.org/drawingml/2006/main">
            <a:r>
              <a:t>- Screenshot intentionally pending real user capture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kernel/e1000.c</a:t>
            </a:r>
          </a:p>
          <a:p xmlns:a="http://schemas.openxmlformats.org/drawingml/2006/main">
            <a:r>
              <a:t>- results/net/grade.txt</a:t>
            </a:r>
          </a:p>
          <a:p xmlns:a="http://schemas.openxmlformats.org/drawingml/2006/main">
            <a:r>
              <a:t>- packets.pcap</a:t>
            </a:r>
          </a:p>
          <a:p xmlns:a="http://schemas.openxmlformats.org/drawingml/2006/main">
            <a:r>
              <a:t>- docs/defense.md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results/util/grade.txt ... results/mmap/grade.txt</a:t>
            </a:r>
          </a:p>
          <a:p xmlns:a="http://schemas.openxmlformats.org/drawingml/2006/main">
            <a:r>
              <a:t>- docs/final-report.md §15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docs/defense.md</a:t>
            </a:r>
          </a:p>
          <a:p xmlns:a="http://schemas.openxmlformats.org/drawingml/2006/main">
            <a:r>
              <a:t>- scripts/defense-demo.sh</a:t>
            </a:r>
          </a:p>
          <a:p xmlns:a="http://schemas.openxmlformats.org/drawingml/2006/main">
            <a:r>
              <a:t>- results/*/grade.txt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e485bd944a45b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855609b4f414c0b" /><Relationship Type="http://schemas.openxmlformats.org/officeDocument/2006/relationships/slideLayout" Target="/ppt/slideLayouts/slideLayout1.xml" Id="Rb5388bcf2dd14c4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5388bcf2dd14c4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92621d974e43a0" /><Relationship Type="http://schemas.openxmlformats.org/officeDocument/2006/relationships/notesSlide" Target="/ppt/notesSlides/notesSlide1.xml" Id="R28ef8ebcf10b451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9bbeeb9ac441ca" /><Relationship Type="http://schemas.openxmlformats.org/officeDocument/2006/relationships/notesSlide" Target="/ppt/notesSlides/notesSlide2.xml" Id="Rf221647ed47244b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e5b652e3314bb0" /><Relationship Type="http://schemas.openxmlformats.org/officeDocument/2006/relationships/image" Target="/ppt/media/image.png" Id="Rc94f43f64ec144f5" /><Relationship Type="http://schemas.openxmlformats.org/officeDocument/2006/relationships/notesSlide" Target="/ppt/notesSlides/notesSlide3.xml" Id="R48463305b971461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6e70f1b0c840a1" /><Relationship Type="http://schemas.openxmlformats.org/officeDocument/2006/relationships/notesSlide" Target="/ppt/notesSlides/notesSlide4.xml" Id="Rf78669a7d50441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4282a5fe9a4ec6" /><Relationship Type="http://schemas.openxmlformats.org/officeDocument/2006/relationships/notesSlide" Target="/ppt/notesSlides/notesSlide5.xml" Id="R8d7b74ffbb81402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5296ccfce74ac0" /><Relationship Type="http://schemas.openxmlformats.org/officeDocument/2006/relationships/notesSlide" Target="/ppt/notesSlides/notesSlide6.xml" Id="R6ec6335dbb544e9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936bf995934b09" /><Relationship Type="http://schemas.openxmlformats.org/officeDocument/2006/relationships/notesSlide" Target="/ppt/notesSlides/notesSlide7.xml" Id="R1b07ef15107446d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2dee728c024e47" /><Relationship Type="http://schemas.openxmlformats.org/officeDocument/2006/relationships/notesSlide" Target="/ppt/notesSlides/notesSlide8.xml" Id="R713399cf96d242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4bde48c3a438d" /><Relationship Type="http://schemas.openxmlformats.org/officeDocument/2006/relationships/notesSlide" Target="/ppt/notesSlides/notesSlide9.xml" Id="R3bdbc0bdec4b41f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bfb8de844d4ac9" /><Relationship Type="http://schemas.openxmlformats.org/officeDocument/2006/relationships/notesSlide" Target="/ppt/notesSlides/notesSlide10.xml" Id="R2790173c0f11424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843ef91cbd49cf" /><Relationship Type="http://schemas.openxmlformats.org/officeDocument/2006/relationships/notesSlide" Target="/ppt/notesSlides/notesSlide11.xml" Id="Rd5397c8249454c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2af6ef3e044667" /><Relationship Type="http://schemas.openxmlformats.org/officeDocument/2006/relationships/notesSlide" Target="/ppt/notesSlides/notesSlide12.xml" Id="R17140cb02459497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82391038be4042" /><Relationship Type="http://schemas.openxmlformats.org/officeDocument/2006/relationships/notesSlide" Target="/ppt/notesSlides/notesSlide13.xml" Id="R48b83aaddbc34f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51dd9c1fa48dc" /><Relationship Type="http://schemas.openxmlformats.org/officeDocument/2006/relationships/notesSlide" Target="/ppt/notesSlides/notesSlide14.xml" Id="R8bf7072c496e42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176001-3106-4024-BFD5-665FD34FF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400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F4E79"/>
                </a:solidFill>
              </a:defRPr>
            </a:pPr>
            <a:r>
              <a:rPr sz="1350" b="1">
                <a:solidFill>
                  <a:srgbClr val="1F4E79"/>
                </a:solidFill>
              </a:rPr>
              <a:t>操作系统课程设计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7A561B-3D56-42B7-B36C-935587FE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98107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基于 MIT 6.S081 Fall 2021 xv6-riscv</a:t>
            </a:r>
          </a:p>
          <a:p xmlns:a="http://schemas.openxmlformats.org/drawingml/2006/main">
            <a:pPr algn="l">
              <a:defRPr sz="4050" b="1">
                <a:solidFill>
                  <a:srgbClr val="111111"/>
                </a:solidFill>
              </a:defRPr>
            </a:pPr>
            <a:r>
              <a:rPr sz="4050" b="1">
                <a:solidFill>
                  <a:srgbClr val="111111"/>
                </a:solidFill>
              </a:rPr>
              <a:t>的操作系统实验与实现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67F3E2-1668-4D5E-8BB9-3806EEDD7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76650"/>
            <a:ext cx="6858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1F4E79"/>
                </a:solidFill>
              </a:defRPr>
            </a:pPr>
            <a:r>
              <a:rPr sz="1950" b="1">
                <a:solidFill>
                  <a:srgbClr val="1F4E79"/>
                </a:solidFill>
              </a:rPr>
              <a:t>10/10 Labs · Official Grader 846/846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2DBB-C135-49C7-B2F5-DD42F6416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25"/>
            <a:ext cx="6477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同济大学 · 计算机科学与技术学院</a:t>
            </a:r>
          </a:p>
          <a:p xmlns:a="http://schemas.openxmlformats.org/drawingml/2006/main">
            <a:pPr algn="l"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软件工程</a:t>
            </a:r>
          </a:p>
          <a:p xmlns:a="http://schemas.openxmlformats.org/drawingml/2006/main">
            <a:pPr algn="l">
              <a:defRPr sz="1575" b="0">
                <a:solidFill>
                  <a:srgbClr val="5F6368"/>
                </a:solidFill>
              </a:defRPr>
            </a:pPr>
            <a:r>
              <a:rPr sz="1575" b="0">
                <a:solidFill>
                  <a:srgbClr val="5F6368"/>
                </a:solidFill>
              </a:rPr>
              <a:t>祝宸旭 · 2451770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5CB967-F26F-4DF9-977D-8EE39E5C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38700"/>
            <a:ext cx="16954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E052E-B57D-4319-BD99-3CB1EEF0A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010150"/>
            <a:ext cx="1352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xv6</a:t>
            </a:r>
          </a:p>
          <a:p xmlns:a="http://schemas.openxmlformats.org/drawingml/2006/main">
            <a:pPr algn="ctr">
              <a:defRPr sz="2100" b="1">
                <a:solidFill>
                  <a:srgbClr val="1F4E79"/>
                </a:solidFill>
              </a:defRPr>
            </a:pPr>
            <a:r>
              <a:rPr sz="2100" b="1">
                <a:solidFill>
                  <a:srgbClr val="1F4E79"/>
                </a:solidFill>
              </a:rPr>
              <a:t>RISC-V</a:t>
            </a:r>
          </a:p>
        </p:txBody>
      </p:sp>
    </p:spTree>
    <p:extLst>
      <p:ext uri="{BB962C8B-B14F-4D97-AF65-F5344CB8AC3E}">
        <p14:creationId xmlns:p14="http://schemas.microsoft.com/office/powerpoint/2010/main" val="70270567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14E7F-4B4D-4A1A-8A58-38D7B84E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AE30C82E-1129-44BD-A667-A3E52974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全部 10 个实验完成，官方评分 846/846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0F13E3-2478-4E36-843E-4396B7CF8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1A2262-9435-40DB-BFDB-20A5130C0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CD4D672-8BD0-467F-9618-1AB348295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476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3D8DFF"/>
                </a:solidFill>
              </a:defRPr>
            </a:pPr>
            <a:r>
              <a:rPr sz="4500" b="1">
                <a:solidFill>
                  <a:srgbClr val="3D8DFF"/>
                </a:solidFill>
              </a:rPr>
              <a:t>10/10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A7D122-4B04-45D5-BB88-5201D6A0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90800"/>
            <a:ext cx="247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独立 Lab 分支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1AFAAA-6EAD-4D4D-BB2F-5DB71E078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52600"/>
            <a:ext cx="3143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846/846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70D8AC-7A20-456E-9288-177E274EC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9080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官方 grader 总分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1391F5-260B-4A49-99EC-1C8238E11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覆盖从用户程序到硬件接口的完整路径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8CA82-7027-494A-9023-120EEC779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810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用户程序 / System Call / Trap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Sv39 / COW / mmap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Thread / Lock / Network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File System / 日志 / inode</a:t>
            </a:r>
          </a:p>
        </p:txBody>
      </p:sp>
      <p:graphicFrame>
        <p:nvGraphicFramePr>
          <p:cNvPr id="22" name=""/>
          <p:cNvGraphicFramePr/>
          <p:nvPr/>
        </p:nvGraphicFramePr>
        <p:xfrm>
          <a:off xmlns:a="http://schemas.openxmlformats.org/drawingml/2006/main" x="7096125" y="1771650"/>
          <a:ext xmlns:a="http://schemas.openxmlformats.org/drawingml/2006/main" cx="4410075" cy="34290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190625"/>
                <a:gridCol w="809625"/>
                <a:gridCol w="1428750"/>
                <a:gridCol w="809625"/>
              </a:tblGrid>
              <a:tr h="571500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Score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util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thread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60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35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net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46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70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85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100</a:t>
                      </a:r>
                    </a:p>
                  </a:txBody>
                  <a:tcPr marL="76200" marR="76200" marT="57150" marB="5715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110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11111"/>
                          </a:solidFill>
                        </a:rPr>
                        <a:t>140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511608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CAAD38-B462-4E24-9C95-A78F30A14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4EF097F2-FB3A-46AA-BF6C-1E375D578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Trap 边界把用户态请求分流到内核子系统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04EC7-37F1-4D61-A570-399F13183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1AD5AC-E961-4F8E-AF3D-3D17A513F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f43f64ec144f5"/>
          <a:stretch xmlns:a="http://schemas.openxmlformats.org/drawingml/2006/main"/>
        </p:blipFill>
        <p:spPr>
          <a:xfrm xmlns:a="http://schemas.openxmlformats.org/drawingml/2006/main">
            <a:off x="685800" y="2628025"/>
            <a:ext cx="8096250" cy="2230599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06E763-43D8-48EA-8EBD-481F04F8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847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三个入口原因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A7633-4EBC-4C48-9ECA-142DE0D71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343150"/>
            <a:ext cx="2381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ecall → syscall()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interrupt → devintr()</a:t>
            </a:r>
          </a:p>
          <a:p xmlns:a="http://schemas.openxmlformats.org/drawingml/2006/main">
            <a:pPr algn="l">
              <a:defRPr sz="1500" b="0">
                <a:solidFill>
                  <a:srgbClr val="111111"/>
                </a:solidFill>
              </a:defRPr>
            </a:pPr>
            <a:r>
              <a:rPr sz="1500" b="0">
                <a:solidFill>
                  <a:srgbClr val="111111"/>
                </a:solidFill>
              </a:rPr>
              <a:t>• page fault → VM handler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45CC86-A5B2-41A8-9572-4522F159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76750"/>
            <a:ext cx="238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设备中断不经过 syscall()</a:t>
            </a:r>
          </a:p>
        </p:txBody>
      </p:sp>
    </p:spTree>
    <p:extLst>
      <p:ext uri="{BB962C8B-B14F-4D97-AF65-F5344CB8AC3E}">
        <p14:creationId xmlns:p14="http://schemas.microsoft.com/office/powerpoint/2010/main" val="68284089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89CF068-130A-4D21-8581-3EB16B04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235210BE-87CF-4368-AAE0-8389C04C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一次系统调用跨越用户态、Trap 与页表边界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E83C08-2A2C-4B80-AA65-D111AE750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2B7B14-7A5C-40EB-A322-9ACEC900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E28A3E-70A9-46FB-B12B-E2E41CC4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 stub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14360-D035-454C-8647-FCAED83CB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ecall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778668-7762-4E0C-A94B-18AF79C56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uservec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CB1C5-41C0-4474-ACEF-0CF80794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usertrap()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6D430A-F1E9-474C-B5BC-1A319983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syscall()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6B9A6C0-1566-4E68-93B9-5891E777A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038350"/>
            <a:ext cx="1428750" cy="704850"/>
          </a:xfrm>
          <a:prstGeom xmlns:a="http://schemas.openxmlformats.org/drawingml/2006/main" prst="roundRect">
            <a:avLst>
              <a:gd name="adj" fmla="val 13514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111111"/>
                </a:solidFill>
              </a:defRPr>
            </a:pPr>
            <a:r>
              <a:rPr sz="1275" b="1">
                <a:solidFill>
                  <a:srgbClr val="111111"/>
                </a:solidFill>
              </a:rPr>
              <a:t>sys_* handler</a:t>
            </a:r>
          </a:p>
        </p:txBody>
      </p: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145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8862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56578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42950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201150" y="239077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4DEA340-0D6A-426E-ADBE-DD8EB4B6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Sv39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5CA792-4B80-4ECC-98A3-A47C9959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4381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三级页表，每级 9 位索引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4 KiB 页面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PTE 定义 R/W/X/U/A 权限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2D84F4-2118-4895-A588-BF27D52F1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Trapframe + Trampoline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2F5FF1-EA23-438A-9703-ED14A65D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229100"/>
            <a:ext cx="4762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保存完整用户寄存器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跨 satp 切换保持入口可执行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scause 决定分流路径</a:t>
            </a:r>
          </a:p>
        </p:txBody>
      </p:sp>
    </p:spTree>
    <p:extLst>
      <p:ext uri="{BB962C8B-B14F-4D97-AF65-F5344CB8AC3E}">
        <p14:creationId xmlns:p14="http://schemas.microsoft.com/office/powerpoint/2010/main" val="8012762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39C23A-84FF-456B-B81D-9ABC73F1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8A0A91A1-16E7-4FF1-BDEA-8D150E04F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让 fork 的复制成本延迟到真正写入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9FDDD-4CDA-479C-B98D-8CCAB3619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4B8791-F4DF-4E71-9E3A-FAB707FB7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711150-9448-415B-9D37-5246FD7CA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写入前：父子共享只读物理页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9639C1-EEC5-46FA-9306-A43A041FD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6FE085-A25A-4324-BD64-38E8D9EF1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310CB9-DDB4-401E-A775-7A3A7144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05150"/>
            <a:ext cx="18097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Shared PA</a:t>
            </a:r>
          </a:p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ref = 2</a:t>
            </a:r>
          </a:p>
        </p:txBody>
      </p: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552700" y="2838450"/>
            <a:ext cx="1162050" cy="7429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 flipV="1">
            <a:off x="2552700" y="3581400"/>
            <a:ext cx="116205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0C084F-2EF2-404F-82E9-4D9C7548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476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写入后：故障路径拆分映射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C0DB0A-D373-455F-9C21-EAEC9312E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030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Parent PTE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COW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E380AEB-9511-4AE5-A38C-9F32CBE7A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829050"/>
            <a:ext cx="1714500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Child PTE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 | 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3EF38-F9B4-47B8-8CD6-58F346D55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40030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Old PA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E5179F-1394-4330-BDD0-5428555B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829050"/>
            <a:ext cx="1666875" cy="876300"/>
          </a:xfrm>
          <a:prstGeom xmlns:a="http://schemas.openxmlformats.org/drawingml/2006/main" prst="roundRect">
            <a:avLst>
              <a:gd name="adj" fmla="val 10870"/>
            </a:avLst>
          </a:prstGeom>
          <a:solidFill xmlns:a="http://schemas.openxmlformats.org/drawingml/2006/main">
            <a:srgbClr val="E8F5E9"/>
          </a:solidFill>
          <a:ln xmlns:a="http://schemas.openxmlformats.org/drawingml/2006/main" w="14288">
            <a:solidFill>
              <a:srgbClr val="2E7D3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New PA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 = 1</a:t>
            </a:r>
          </a:p>
        </p:txBody>
      </p:sp>
      <p:cxnSp>
        <p:nvCxnSpPr>
          <p:cNvPr id="34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86750" y="283845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5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286750" y="426720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E7D32"/>
            </a:solidFill>
            <a:prstDash val="solid"/>
            <a:tailEnd type="triangle" w="sm" len="sm"/>
          </a:ln>
        </p:spPr>
      </p:cxn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69166-D940-4913-AB01-A7531FB74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E79"/>
                </a:solidFill>
              </a:defRPr>
            </a:pPr>
            <a:r>
              <a:rPr sz="1650" b="1">
                <a:solidFill>
                  <a:srgbClr val="1F4E79"/>
                </a:solidFill>
              </a:rPr>
              <a:t>用户 store fault 与内核 copyout 都必须遵守同一拆分规则</a:t>
            </a:r>
          </a:p>
        </p:txBody>
      </p:sp>
    </p:spTree>
    <p:extLst>
      <p:ext uri="{BB962C8B-B14F-4D97-AF65-F5344CB8AC3E}">
        <p14:creationId xmlns:p14="http://schemas.microsoft.com/office/powerpoint/2010/main" val="177352700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A02695-584B-4842-85B8-5D085560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1C2196B-99B8-441B-919D-A4C5BF49A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COW 的正确性依赖三条同时成立的不变量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8A89-0DCA-49BE-BB02-5F4B1A140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E55279-1B17-4DD5-88D6-90D837F46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23FCC7-93E6-4A3A-99EC-B6C65D1FD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uvmcopy()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共享 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2BC74-A185-4EC9-8260-6B862430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PTE_COW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清除 PTE_W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ED1952-64EF-48F5-A1D5-752C7133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00250"/>
            <a:ext cx="19050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reference count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映射成对计数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AAD68E-A88D-4EA4-B9EB-9A5A11E7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000250"/>
            <a:ext cx="24765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cowalloc()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单引用恢复 / 多引用复制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5908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01015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429500" y="2457450"/>
            <a:ext cx="514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A7F498-92AB-4FC5-95D6-9C9F40C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83820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共享页不可直接写：父子 PTE 均移除 PTE_W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引用计数准确：每个映射增加，每次解除映射减少</a:t>
            </a:r>
          </a:p>
          <a:p xmlns:a="http://schemas.openxmlformats.org/drawingml/2006/main">
            <a:pPr algn="l">
              <a:defRPr sz="1725" b="0">
                <a:solidFill>
                  <a:srgbClr val="111111"/>
                </a:solidFill>
              </a:defRPr>
            </a:pPr>
            <a:r>
              <a:rPr sz="1725" b="0">
                <a:solidFill>
                  <a:srgbClr val="111111"/>
                </a:solidFill>
              </a:rPr>
              <a:t>• 所有写路径一致：usertrap() 与 copyout() 共同调用 cowalloc()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0F7FFC-17B4-42E8-8EA9-142530DD5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909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110/110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8828B-AE19-4DAD-822F-F5BC9959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6291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cow 官方评分</a:t>
            </a:r>
          </a:p>
        </p:txBody>
      </p:sp>
    </p:spTree>
    <p:extLst>
      <p:ext uri="{BB962C8B-B14F-4D97-AF65-F5344CB8AC3E}">
        <p14:creationId xmlns:p14="http://schemas.microsoft.com/office/powerpoint/2010/main" val="22982952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A2E19-61E6-4A3C-8D70-FF36A052D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A66E908D-805E-4E29-AD45-04447DA1F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并发优化从状态归属出发，而不是机械增加锁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272114-C2A7-43E1-8BE2-BFA293B9D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66770-C583-45DD-8AFC-AE28AB9B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D5E4E8-4C24-4DFC-AC29-13326EE92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Multithreading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E2B00-D376-4562-AF98-FADF30742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thread_switch 保存 ra / sp / s0–s11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hash table：每 bucket mutex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barrier：mutex + cond + generation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CB6EDF-CBF6-4F04-BC5C-C44AB8B6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145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8090E6-B8C6-4E3B-A427-683FB0CA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allocator：per-CPU freelist + steal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bcache：13 buckets + eviction 慢路径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固定锁序维护唯一缓存副本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25A91-78FD-491B-BDBA-C9591C54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9AB62D-1FF6-43F4-8311-0568370A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10363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本次 bcache test-and-set：62,783 → 163（约下降 99.7%）</a:t>
            </a:r>
          </a:p>
        </p:txBody>
      </p:sp>
    </p:spTree>
    <p:extLst>
      <p:ext uri="{BB962C8B-B14F-4D97-AF65-F5344CB8AC3E}">
        <p14:creationId xmlns:p14="http://schemas.microsoft.com/office/powerpoint/2010/main" val="96524332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D8546D-2B5F-42A7-B912-2EA8ADA7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FFB4A27A-00EC-4463-A154-BFC7BD8C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双重间接块在不增大 inode 的前提下扩展大文件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2BEF7E-AFF2-4871-9ABE-15D34A477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57D9BB-E754-41D2-8E6F-14D0DBC86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9F69E1-77E3-433E-B8B3-DCAAB6148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809750" cy="819150"/>
          </a:xfrm>
          <a:prstGeom xmlns:a="http://schemas.openxmlformats.org/drawingml/2006/main" prst="roundRect">
            <a:avLst>
              <a:gd name="adj" fmla="val 1162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111"/>
                </a:solidFill>
              </a:defRPr>
            </a:pPr>
            <a:r>
              <a:rPr sz="1650" b="1">
                <a:solidFill>
                  <a:srgbClr val="111111"/>
                </a:solidFill>
              </a:rPr>
              <a:t>inode addrs[13]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02CA46-1D18-4440-B55C-195A2A5BB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38300"/>
            <a:ext cx="1714500" cy="685800"/>
          </a:xfrm>
          <a:prstGeom xmlns:a="http://schemas.openxmlformats.org/drawingml/2006/main" prst="roundRect">
            <a:avLst>
              <a:gd name="adj" fmla="val 13889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11 direct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114A04-9A22-47BB-92CF-A6F869C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647950"/>
            <a:ext cx="1714500" cy="781050"/>
          </a:xfrm>
          <a:prstGeom xmlns:a="http://schemas.openxmlformats.org/drawingml/2006/main" prst="roundRect">
            <a:avLst>
              <a:gd name="adj" fmla="val 12195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single indirect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blocks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AE066-6CFB-4FAB-BC27-B49FD2C0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943350"/>
            <a:ext cx="17145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1 double indirect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4361F2-7A32-4D83-A0FB-955F26063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943350"/>
            <a:ext cx="190500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 index blocks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7B2F75-A33E-407D-93F6-3F8C0651F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43350"/>
            <a:ext cx="2000250" cy="723900"/>
          </a:xfrm>
          <a:prstGeom xmlns:a="http://schemas.openxmlformats.org/drawingml/2006/main" prst="roundRect">
            <a:avLst>
              <a:gd name="adj" fmla="val 13158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256² data blocks</a:t>
            </a:r>
          </a:p>
        </p:txBody>
      </p:sp>
      <p:cxnSp>
        <p:nvCxnSpPr>
          <p:cNvPr id="29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495550" y="1981200"/>
            <a:ext cx="89535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2495550" y="2505075"/>
            <a:ext cx="895350" cy="5334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95550" y="2505075"/>
            <a:ext cx="895350" cy="18002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5105400" y="43053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8058150" y="4305300"/>
            <a:ext cx="895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F447D7F-E5CC-4A44-A838-A79388870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905000"/>
            <a:ext cx="4800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1F4E79"/>
                </a:solidFill>
              </a:defRPr>
            </a:pPr>
            <a:r>
              <a:rPr sz="2325" b="1">
                <a:solidFill>
                  <a:srgbClr val="1F4E79"/>
                </a:solidFill>
              </a:rPr>
              <a:t>MAXFILE = 11 + 256 + 256² = 65,803 blocks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6114A-ACCD-49CC-9569-1B795EAB2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24150"/>
            <a:ext cx="476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bmap() 按需分配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itrunc() 由叶到根释放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symlink 最大跟随深度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D81F7D-25AD-404D-B5A6-8568B565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F4E79"/>
                </a:solidFill>
              </a:defRPr>
            </a:pPr>
            <a:r>
              <a:rPr sz="1575" b="1">
                <a:solidFill>
                  <a:srgbClr val="1F4E79"/>
                </a:solidFill>
              </a:rPr>
              <a:t>FS 100/100 · 现场只演示 symlinktest，完整 bigfile 证据见 results/fs/grade.txt</a:t>
            </a:r>
          </a:p>
        </p:txBody>
      </p:sp>
    </p:spTree>
    <p:extLst>
      <p:ext uri="{BB962C8B-B14F-4D97-AF65-F5344CB8AC3E}">
        <p14:creationId xmlns:p14="http://schemas.microsoft.com/office/powerpoint/2010/main" val="32171630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E45FB8-C528-4C30-99D6-B6F27B420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B7F29AF8-1D69-4552-99CD-5E33ACF76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mmap 先登记 VMA，首次数据访问时才真正装页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D6627-6EDD-43A4-AE73-A35C228E7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1357A-E478-4BA8-9FDB-15496283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A1A8F-8323-42A6-8090-635ED7790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</a:defRPr>
            </a:pPr>
            <a:r>
              <a:rPr sz="1875" b="1">
                <a:solidFill>
                  <a:srgbClr val="111111"/>
                </a:solidFill>
              </a:rPr>
              <a:t>用户虚拟地址空间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347174-7E30-4ABA-9355-1A45860EC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4000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TRAMPOLINE / TRAPFRAME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C6A979-182D-4623-80FE-EAA172CEA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2（未 fault，无 PTE）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E4B064-A65E-45D8-9EC5-DA16044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4000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0EDFA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VMA 1（已装页）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995E96-20ED-4A9D-B9F4-C3F4E11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400050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5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111"/>
                </a:solidFill>
              </a:defRPr>
            </a:pPr>
            <a:r>
              <a:rPr sz="1500" b="1">
                <a:solidFill>
                  <a:srgbClr val="111111"/>
                </a:solidFill>
              </a:rPr>
              <a:t>heap / stack / 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4EE0E-FCDB-4519-B0B9-9B210A81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7335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VMA 元数据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A7696-AEC9-47F4-A057-68261F353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266950"/>
            <a:ext cx="5143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addr / length / prot / flags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file 引用 + offset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每进程最多 16 个 VMA</a:t>
            </a:r>
          </a:p>
          <a:p xmlns:a="http://schemas.openxmlformats.org/drawingml/2006/main">
            <a:pPr algn="l">
              <a:defRPr sz="1650" b="0">
                <a:solidFill>
                  <a:srgbClr val="111111"/>
                </a:solidFill>
              </a:defRPr>
            </a:pPr>
            <a:r>
              <a:rPr sz="1650" b="0">
                <a:solidFill>
                  <a:srgbClr val="111111"/>
                </a:solidFill>
              </a:rPr>
              <a:t>• 地址从 TRAPFRAME 下方向下选择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35319F-117A-41E0-A335-48C3D7305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343400"/>
            <a:ext cx="5143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F546DB-D25C-4805-B6CD-F7C09F2E0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4514850"/>
            <a:ext cx="4648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Lazy mapping 的收益</a:t>
            </a:r>
          </a:p>
          <a:p xmlns:a="http://schemas.openxmlformats.org/drawingml/2006/main">
            <a:pPr algn="ctr">
              <a:defRPr sz="1800" b="1">
                <a:solidFill>
                  <a:srgbClr val="1F4E79"/>
                </a:solidFill>
              </a:defRPr>
            </a:pPr>
            <a:r>
              <a:rPr sz="1800" b="1">
                <a:solidFill>
                  <a:srgbClr val="1F4E79"/>
                </a:solidFill>
              </a:rPr>
              <a:t>只为实际访问页面分配物理内存并执行文件 I/O</a:t>
            </a:r>
          </a:p>
        </p:txBody>
      </p:sp>
    </p:spTree>
    <p:extLst>
      <p:ext uri="{BB962C8B-B14F-4D97-AF65-F5344CB8AC3E}">
        <p14:creationId xmlns:p14="http://schemas.microsoft.com/office/powerpoint/2010/main" val="145604504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355894-5805-41B6-BB5E-FD2D3ECC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9E00E1B4-7426-4856-A115-E5EBB5C2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VMA、fault、fork、munmap 与 exit 构成完整生命周期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C446F4-040E-4626-8DFF-F8458CD4E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2F4CED-C022-47CA-A96B-07DDDB96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53D81-A570-472A-9596-4A07BD2B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mmap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登记 VMA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filedup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D7C556-29AB-4F37-A88B-EC0DB891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fault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kalloc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readi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mappages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BFA964-15BE-4877-A72F-C119D3A0E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access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PTE 权限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读 / 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189FB4-85A2-4F39-AE04-508EEBFF5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fork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复制 VMA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独立 fault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6B1356-7242-40A6-8D90-97923136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munmap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shared 回写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释放 PTE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4772F8-4F24-4B53-A30D-A7E47832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190750"/>
            <a:ext cx="1581150" cy="1200150"/>
          </a:xfrm>
          <a:prstGeom xmlns:a="http://schemas.openxmlformats.org/drawingml/2006/main" prst="roundRect">
            <a:avLst>
              <a:gd name="adj" fmla="val 7937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exit / exec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unmap_all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fileclose</a:t>
            </a:r>
          </a:p>
        </p:txBody>
      </p:sp>
      <p:cxnSp>
        <p:nvCxnSpPr>
          <p:cNvPr id="3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1336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1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0767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2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0198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3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79629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34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9906000" y="2790825"/>
            <a:ext cx="361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8FDAE-A1E9-4811-A314-76465D32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关键区分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C0F10B-8A73-4182-BB47-742124553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33900"/>
            <a:ext cx="685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</a:defRPr>
            </a:pPr>
            <a:r>
              <a:rPr sz="2400" b="1">
                <a:solidFill>
                  <a:srgbClr val="111111"/>
                </a:solidFill>
              </a:rPr>
              <a:t>VMA 已登记 ≠ PTE / 物理页已经存在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58E5B0-8245-42F1-9C9D-EBE97222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095750"/>
            <a:ext cx="23431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1F4E79"/>
                </a:solidFill>
              </a:defRPr>
            </a:pPr>
            <a:r>
              <a:rPr sz="4500" b="1">
                <a:solidFill>
                  <a:srgbClr val="1F4E79"/>
                </a:solidFill>
              </a:rPr>
              <a:t>140/140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C5FFCE9-9B47-4346-B857-15354C52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93395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F6368"/>
                </a:solidFill>
              </a:defRPr>
            </a:pPr>
            <a:r>
              <a:rPr sz="1500" b="0">
                <a:solidFill>
                  <a:srgbClr val="5F6368"/>
                </a:solidFill>
              </a:rPr>
              <a:t>mmap 官方评分</a:t>
            </a:r>
          </a:p>
        </p:txBody>
      </p:sp>
    </p:spTree>
    <p:extLst>
      <p:ext uri="{BB962C8B-B14F-4D97-AF65-F5344CB8AC3E}">
        <p14:creationId xmlns:p14="http://schemas.microsoft.com/office/powerpoint/2010/main" val="179308066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9187F-F772-4E87-8E22-F38F84F1E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4E79"/>
                </a:solidFill>
              </a:defRPr>
            </a:pPr>
            <a:r>
              <a:rPr sz="1050" b="1">
                <a:solidFill>
                  <a:srgbClr val="1F4E79"/>
                </a:solidFill>
              </a:rPr>
              <a:t>MAIN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BB79519-F512-4ECF-8F29-DDB82F3C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现场 Demo 聚焦 mmap，结论回到资源生命周期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CDECBB-DC4D-4208-9D7D-A0D59F1C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DF07F67-3F74-471C-AAA9-FE9419E3B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8A308-E472-45D3-9F57-093446CE8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F4E79"/>
                </a:solidFill>
              </a:defRPr>
            </a:pPr>
            <a:r>
              <a:rPr sz="1875" b="1">
                <a:solidFill>
                  <a:srgbClr val="1F4E79"/>
                </a:solidFill>
              </a:rPr>
              <a:t>首选命令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DA9CA-6BA0-422E-A58F-C69A56BE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28850"/>
            <a:ext cx="5048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9525">
            <a:solidFill>
              <a:srgbClr val="15151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007B0B-75B9-4764-8F32-E923C460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00300"/>
            <a:ext cx="4629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./scripts/defense-demo.sh mmap demo</a:t>
            </a:r>
          </a:p>
          <a:p xmlns:a="http://schemas.openxmlformats.org/drawingml/2006/main">
            <a:pPr algn="l">
              <a:defRPr sz="1500" b="0">
                <a:solidFill>
                  <a:srgbClr val="FFFFFF"/>
                </a:solidFill>
              </a:defRPr>
            </a:pPr>
            <a:r>
              <a:rPr sz="1500" b="0">
                <a:solidFill>
                  <a:srgbClr val="FFFFFF"/>
                </a:solidFill>
              </a:rPr>
              <a:t>$ mmaptest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20857A-0AAA-49D8-A685-E6B6C4B2E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预期：mmaptest: all tests succeeded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退出：Ctrl-a x</a:t>
            </a:r>
          </a:p>
          <a:p xmlns:a="http://schemas.openxmlformats.org/drawingml/2006/main">
            <a:pPr algn="l">
              <a:defRPr sz="1575" b="0">
                <a:solidFill>
                  <a:srgbClr val="111111"/>
                </a:solidFill>
              </a:defRPr>
            </a:pPr>
            <a:r>
              <a:rPr sz="1575" b="0">
                <a:solidFill>
                  <a:srgbClr val="111111"/>
                </a:solidFill>
              </a:rPr>
              <a:t>• 备用：cow demo → cowtest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CA51A-0D6D-4C6A-A683-9552085F5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52600"/>
            <a:ext cx="5029200" cy="3009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2F5"/>
          </a:solidFill>
          <a:ln xmlns:a="http://schemas.openxmlformats.org/drawingml/2006/main" w="19050">
            <a:solidFill>
              <a:srgbClr val="B8BCC4"/>
            </a:solidFill>
            <a:prstDash val="dash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DF76CE-07A1-4B48-AFA3-D28ED415B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724150"/>
            <a:ext cx="4381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5F6368"/>
                </a:solidFill>
              </a:defRPr>
            </a:pPr>
            <a:r>
              <a:rPr sz="2100" b="1">
                <a:solidFill>
                  <a:srgbClr val="5F6368"/>
                </a:solidFill>
              </a:rPr>
              <a:t>真实终端截图</a:t>
            </a:r>
          </a:p>
          <a:p xmlns:a="http://schemas.openxmlformats.org/drawingml/2006/main">
            <a:pPr algn="ctr">
              <a:defRPr sz="2100" b="1">
                <a:solidFill>
                  <a:srgbClr val="5F6368"/>
                </a:solidFill>
              </a:defRPr>
            </a:pPr>
            <a:r>
              <a:rPr sz="2100" b="1">
                <a:solidFill>
                  <a:srgbClr val="5F6368"/>
                </a:solidFill>
              </a:rPr>
              <a:t>待本人在最终答辩机器采集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C09C5-3C75-4D9D-83C7-B4B40D248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F4E79"/>
                </a:solidFill>
              </a:defRPr>
            </a:pPr>
            <a:r>
              <a:rPr sz="2250" b="1">
                <a:solidFill>
                  <a:srgbClr val="1F4E79"/>
                </a:solidFill>
              </a:rPr>
              <a:t>10 Labs · 846/846 · COW + mmap</a:t>
            </a:r>
          </a:p>
        </p:txBody>
      </p:sp>
    </p:spTree>
    <p:extLst>
      <p:ext uri="{BB962C8B-B14F-4D97-AF65-F5344CB8AC3E}">
        <p14:creationId xmlns:p14="http://schemas.microsoft.com/office/powerpoint/2010/main" val="25629859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8530AC-A50B-41EC-A8A2-2D3BA64D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16D60D12-4379-4C1C-8D9D-E04982F0B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Network Driver：DMA descriptor ring 的所有权交接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176D7-8C14-4B3A-9E7F-E17A5BAC1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838CCE-40CE-4E34-8B65-995002E0A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6D08FA-8242-4ED9-A9A5-0FBC8576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7650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CPU / driver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7B4EA5-7BBD-410D-99FD-65244F8C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809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TX ring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TDT + DD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01F751-858C-4E07-9E5E-FC483C78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14750"/>
            <a:ext cx="2000250" cy="8572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5FB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RX ring</a:t>
            </a:r>
          </a:p>
          <a:p xmlns:a="http://schemas.openxmlformats.org/drawingml/2006/main">
            <a:pPr algn="ctr">
              <a:defRPr sz="1350" b="1">
                <a:solidFill>
                  <a:srgbClr val="111111"/>
                </a:solidFill>
              </a:defRPr>
            </a:pPr>
            <a:r>
              <a:rPr sz="1350" b="1">
                <a:solidFill>
                  <a:srgbClr val="111111"/>
                </a:solidFill>
              </a:rPr>
              <a:t>RDT + DD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B3FE7-A704-4395-A092-6D8C91619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743200"/>
            <a:ext cx="200025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0EDFA"/>
          </a:solidFill>
          <a:ln xmlns:a="http://schemas.openxmlformats.org/drawingml/2006/main" w="14288">
            <a:solidFill>
              <a:srgbClr val="1F4E79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E1000</a:t>
            </a:r>
          </a:p>
          <a:p xmlns:a="http://schemas.openxmlformats.org/drawingml/2006/main">
            <a:pPr algn="ctr">
              <a:defRPr sz="1800" b="1">
                <a:solidFill>
                  <a:srgbClr val="111111"/>
                </a:solidFill>
              </a:defRPr>
            </a:pPr>
            <a:r>
              <a:rPr sz="1800" b="1">
                <a:solidFill>
                  <a:srgbClr val="111111"/>
                </a:solidFill>
              </a:rPr>
              <a:t>DMA</a:t>
            </a:r>
          </a:p>
        </p:txBody>
      </p:sp>
      <p:cxnSp>
        <p:nvCxnSpPr>
          <p:cNvPr id="23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 flipV="1">
            <a:off x="2857500" y="2238375"/>
            <a:ext cx="133350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191250" y="2238375"/>
            <a:ext cx="1428750" cy="981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5" name=""/>
          <p:cNvCxnSpPr>
            <a:stCxn xmlns:a="http://schemas.openxmlformats.org/drawingml/2006/main" id="8" idx="1"/>
            <a:endCxn xmlns:a="http://schemas.openxmlformats.org/drawingml/2006/main" id="7" idx="3"/>
          </p:cNvCxnSpPr>
          <p:nvPr/>
        </p:nvCxnSpPr>
        <p:spPr>
          <a:xfrm xmlns:a="http://schemas.openxmlformats.org/drawingml/2006/main" flipH="1">
            <a:off x="6191250" y="3219450"/>
            <a:ext cx="1428750" cy="9239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cxnSp>
        <p:nvCxnSpPr>
          <p:cNvPr id="26" name=""/>
          <p:cNvCxnSpPr>
            <a:stCxn xmlns:a="http://schemas.openxmlformats.org/drawingml/2006/main" id="7" idx="1"/>
            <a:endCxn xmlns:a="http://schemas.openxmlformats.org/drawingml/2006/main" id="5" idx="3"/>
          </p:cNvCxnSpPr>
          <p:nvPr/>
        </p:nvCxnSpPr>
        <p:spPr>
          <a:xfrm xmlns:a="http://schemas.openxmlformats.org/drawingml/2006/main" flipH="1" flipV="1">
            <a:off x="2857500" y="2905125"/>
            <a:ext cx="1333500" cy="12382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4E79"/>
            </a:solidFill>
            <a:prstDash val="solid"/>
            <a:tailEnd type="triangle" w="sm" len="sm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E8C95-EC74-4393-A950-E4ECFEE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095500"/>
            <a:ext cx="171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DD 位决定 buffer 所有权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调用 net_rx() 前释放设备锁</a:t>
            </a:r>
          </a:p>
          <a:p xmlns:a="http://schemas.openxmlformats.org/drawingml/2006/main">
            <a:pPr algn="l">
              <a:defRPr sz="1350" b="0">
                <a:solidFill>
                  <a:srgbClr val="111111"/>
                </a:solidFill>
              </a:defRPr>
            </a:pPr>
            <a:r>
              <a:rPr sz="1350" b="0">
                <a:solidFill>
                  <a:srgbClr val="111111"/>
                </a:solidFill>
              </a:rPr>
              <a:t>• memory barrier 保证描述符可见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C09094-D64E-4FC5-A0DF-1F8018A43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108204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不做现场交互 Demo：nettests 依赖 host-side make server</a:t>
            </a:r>
          </a:p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证据：results/net/grade.txt + packets.pcap</a:t>
            </a:r>
          </a:p>
        </p:txBody>
      </p:sp>
    </p:spTree>
    <p:extLst>
      <p:ext uri="{BB962C8B-B14F-4D97-AF65-F5344CB8AC3E}">
        <p14:creationId xmlns:p14="http://schemas.microsoft.com/office/powerpoint/2010/main" val="46251647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B8EAA6-535E-4154-B89A-18377628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0D4E4AED-833C-453B-895D-538F619F3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完整成绩与验证证据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17A87B-C820-4F5A-91F8-05273128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888CC8-BF01-4E8C-AEBF-003A8B02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1524000" y="1638300"/>
          <a:ext xmlns:a="http://schemas.openxmlformats.org/drawingml/2006/main" cx="9144000" cy="4229100"/>
        </p:xfrm>
        <a:graphic xmlns:a="http://schemas.openxmlformats.org/drawingml/2006/main">
          <a:graphicData uri="http://schemas.openxmlformats.org/drawingml/2006/table">
            <a:tbl>
              <a:tblPr firstRow="1" lastRow="1"/>
              <a:tblGrid>
                <a:gridCol w="1619250"/>
                <a:gridCol w="1619250"/>
                <a:gridCol w="4095750"/>
                <a:gridCol w="1619250"/>
              </a:tblGrid>
              <a:tr h="3524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Lab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Grade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Result File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Status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util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100/100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results/util/grade.txt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35/35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results/syscall/grade.txt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46/46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results/pgtbl/grade.txt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85/85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results/traps/grade.txt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110/110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results/cow/grade.txt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60/60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results/thread/grade.txt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net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100/100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results/net/grade.txt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lock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70/70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results/lock/grade.txt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100/100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results/fs/grade.txt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140/140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results/mmap/grade.txt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  <a:tr h="3524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Total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846/846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results/</a:t>
                      </a:r>
                    </a:p>
                  </a:txBody>
                  <a:tcPr marL="76200" marR="76200" marT="38100" marB="3810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PASS</a:t>
                      </a:r>
                    </a:p>
                  </a:txBody>
                  <a:tcPr marL="76200" marR="76200" marT="38100" marB="38100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15710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6FD495A-B076-4497-B295-7C125AC32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F6368"/>
                </a:solidFill>
              </a:defRPr>
            </a:pPr>
            <a:r>
              <a:rPr sz="1050" b="1">
                <a:solidFill>
                  <a:srgbClr val="5F6368"/>
                </a:solidFill>
              </a:rPr>
              <a:t>BACKUP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2C9E1B7E-C97A-47C2-B87E-FAA8A23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858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11111"/>
                </a:solidFill>
              </a:defRPr>
            </a:pPr>
            <a:r>
              <a:rPr sz="2850" b="1">
                <a:solidFill>
                  <a:srgbClr val="111111"/>
                </a:solidFill>
              </a:rPr>
              <a:t>详细源码与测试定位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25EFF66-4A12-4E27-BE0A-A4ADCB7C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286500"/>
            <a:ext cx="342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F6368"/>
                </a:solidFill>
              </a:defRPr>
            </a:pPr>
            <a:r>
              <a:rPr sz="1050" b="0">
                <a:solidFill>
                  <a:srgbClr val="5F6368"/>
                </a:solidFill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DCB534-2481-4407-948B-E5D6A93B8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graphicFrame>
        <p:nvGraphicFramePr>
          <p:cNvPr id="11" name=""/>
          <p:cNvGraphicFramePr/>
          <p:nvPr/>
        </p:nvGraphicFramePr>
        <p:xfrm>
          <a:off xmlns:a="http://schemas.openxmlformats.org/drawingml/2006/main" x="685800" y="1809750"/>
          <a:ext xmlns:a="http://schemas.openxmlformats.org/drawingml/2006/main" cx="10820400" cy="3429000"/>
        </p:xfrm>
        <a:graphic xmlns:a="http://schemas.openxmlformats.org/drawingml/2006/main">
          <a:graphicData uri="http://schemas.openxmlformats.org/drawingml/2006/table">
            <a:tbl>
              <a:tblPr firstRow="1"/>
              <a:tblGrid>
                <a:gridCol w="1809750"/>
                <a:gridCol w="1524000"/>
                <a:gridCol w="4286250"/>
                <a:gridCol w="2857500"/>
              </a:tblGrid>
              <a:tr h="428625"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Topic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Branch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Source entry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75" b="1">
                          <a:solidFill>
                            <a:srgbClr val="111111"/>
                          </a:solidFill>
                        </a:rPr>
                        <a:t>Test / evidence</a:t>
                      </a:r>
                    </a:p>
                  </a:txBody>
                  <a:tcPr marL="91440" marR="91440" marT="45720" marB="45720">
                    <a:solidFill>
                      <a:srgbClr val="EAF5FB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System 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kernel/syscall.c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syscall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Page Table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kernel/vm.c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pgtbl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kernel/trap.c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traps demo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uvmcopy / cowalloc / copyout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cowtest / grade.txt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thread / lock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uthread_switch.S / kalloc.c / bio.c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saved grade evidence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File System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fs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bmap / itrunc / sys_symlink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symlinktest only</a:t>
                      </a:r>
                    </a:p>
                  </a:txBody>
                  <a:tcPr marL="76200" marR="76200" marT="57150" marB="57150"/>
                </a:tc>
              </a:tr>
              <a:tr h="428625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sys_mmap / vma_fault / vma_unmap_all</a:t>
                      </a:r>
                    </a:p>
                  </a:txBody>
                  <a:tcPr marL="76200" marR="76200" marT="57150" marB="5715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111111"/>
                          </a:solidFill>
                        </a:rPr>
                        <a:t>mmap demo</a:t>
                      </a:r>
                    </a:p>
                  </a:txBody>
                  <a:tcPr marL="76200" marR="76200" marT="57150" marB="5715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61F413-AD25-4377-B8B3-E3F066349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F4E79"/>
                </a:solidFill>
              </a:defRPr>
            </a:pPr>
            <a:r>
              <a:rPr sz="1500" b="1">
                <a:solidFill>
                  <a:srgbClr val="1F4E79"/>
                </a:solidFill>
              </a:rPr>
              <a:t>完整答辩索引：docs/defense.md · 主现场 Demo：mmap · FS 仅 symlinktest · Net 使用保存证据</a:t>
            </a:r>
          </a:p>
        </p:txBody>
      </p:sp>
    </p:spTree>
    <p:extLst>
      <p:ext uri="{BB962C8B-B14F-4D97-AF65-F5344CB8AC3E}">
        <p14:creationId xmlns:p14="http://schemas.microsoft.com/office/powerpoint/2010/main" val="17123947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2026-08-18T04:46:14.1490000Z</dcterms:created>
  <dcterms:modified xsi:type="dcterms:W3CDTF">2026-08-18T04:46:14.1490000Z</dcterms:modified>
</coreProperties>
</file>